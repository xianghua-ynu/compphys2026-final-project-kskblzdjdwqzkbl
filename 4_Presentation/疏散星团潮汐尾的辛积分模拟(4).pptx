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0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4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0" userDrawn="1">
          <p15:clr>
            <a:srgbClr val="747775"/>
          </p15:clr>
        </p15:guide>
        <p15:guide id="2" pos="2873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84" y="48"/>
      </p:cViewPr>
      <p:guideLst>
        <p:guide orient="horz" pos="1680"/>
        <p:guide pos="28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endParaRPr lang="en-US" sz="1600" b="0" i="0" u="none" strike="noStrike">
              <a:solidFill>
                <a:srgbClr val="000000"/>
              </a:solidFill>
              <a:latin typeface="Kaiti SC"/>
              <a:ea typeface="Kaiti SC"/>
              <a:cs typeface="Kaiti SC"/>
              <a:sym typeface="Kai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Kaiti SC"/>
                <a:ea typeface="宋体" panose="02010600030101010101" pitchFamily="2" charset="-122"/>
                <a:cs typeface="Kaiti SC"/>
                <a:sym typeface="Kaiti SC"/>
              </a:rPr>
              <a:t>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8000"/>
              </a:lnSpc>
            </a:pPr>
            <a:endParaRPr lang="en-US" sz="1600" b="0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Kaiti SC"/>
                <a:ea typeface="Kaiti SC"/>
                <a:cs typeface="Kaiti SC"/>
                <a:sym typeface="Kaiti SC"/>
              </a:rPr>
              <a:t>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4.png"/><Relationship Id="rId5" Type="http://schemas.openxmlformats.org/officeDocument/2006/relationships/tags" Target="../tags/tag11.xml"/><Relationship Id="rId10" Type="http://schemas.openxmlformats.org/officeDocument/2006/relationships/image" Target="../media/image3.png"/><Relationship Id="rId4" Type="http://schemas.openxmlformats.org/officeDocument/2006/relationships/tags" Target="../tags/tag10.xml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3" Type="http://schemas.openxmlformats.org/officeDocument/2006/relationships/tags" Target="../tags/tag14.xml"/><Relationship Id="rId21" Type="http://schemas.openxmlformats.org/officeDocument/2006/relationships/notesSlide" Target="../notesSlides/notesSlide7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tags" Target="../tags/tag48.xml"/><Relationship Id="rId26" Type="http://schemas.openxmlformats.org/officeDocument/2006/relationships/slideLayout" Target="../slideLayouts/slideLayout12.xml"/><Relationship Id="rId3" Type="http://schemas.openxmlformats.org/officeDocument/2006/relationships/tags" Target="../tags/tag33.xml"/><Relationship Id="rId21" Type="http://schemas.openxmlformats.org/officeDocument/2006/relationships/tags" Target="../tags/tag51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5" Type="http://schemas.openxmlformats.org/officeDocument/2006/relationships/tags" Target="../tags/tag55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20" Type="http://schemas.openxmlformats.org/officeDocument/2006/relationships/tags" Target="../tags/tag50.xml"/><Relationship Id="rId29" Type="http://schemas.openxmlformats.org/officeDocument/2006/relationships/image" Target="../media/image7.png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24" Type="http://schemas.openxmlformats.org/officeDocument/2006/relationships/tags" Target="../tags/tag54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23" Type="http://schemas.openxmlformats.org/officeDocument/2006/relationships/tags" Target="../tags/tag53.xml"/><Relationship Id="rId28" Type="http://schemas.openxmlformats.org/officeDocument/2006/relationships/image" Target="../media/image1.png"/><Relationship Id="rId10" Type="http://schemas.openxmlformats.org/officeDocument/2006/relationships/tags" Target="../tags/tag40.xml"/><Relationship Id="rId19" Type="http://schemas.openxmlformats.org/officeDocument/2006/relationships/tags" Target="../tags/tag49.xml"/><Relationship Id="rId31" Type="http://schemas.openxmlformats.org/officeDocument/2006/relationships/image" Target="../media/image9.png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Relationship Id="rId22" Type="http://schemas.openxmlformats.org/officeDocument/2006/relationships/tags" Target="../tags/tag52.xml"/><Relationship Id="rId27" Type="http://schemas.openxmlformats.org/officeDocument/2006/relationships/notesSlide" Target="../notesSlides/notesSlide10.xml"/><Relationship Id="rId30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13" Type="http://schemas.openxmlformats.org/officeDocument/2006/relationships/image" Target="../media/image1.png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image" Target="../media/image11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10.png"/><Relationship Id="rId5" Type="http://schemas.openxmlformats.org/officeDocument/2006/relationships/tags" Target="../tags/tag60.xml"/><Relationship Id="rId10" Type="http://schemas.openxmlformats.org/officeDocument/2006/relationships/notesSlide" Target="../notesSlides/notesSlide11.xml"/><Relationship Id="rId4" Type="http://schemas.openxmlformats.org/officeDocument/2006/relationships/tags" Target="../tags/tag59.xml"/><Relationship Id="rId9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image" Target="../media/image1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image" Target="../media/image13.png"/><Relationship Id="rId2" Type="http://schemas.openxmlformats.org/officeDocument/2006/relationships/tags" Target="../tags/tag65.xml"/><Relationship Id="rId16" Type="http://schemas.openxmlformats.org/officeDocument/2006/relationships/notesSlide" Target="../notesSlides/notesSlide14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slideLayout" Target="../slideLayouts/slideLayout12.xml"/><Relationship Id="rId10" Type="http://schemas.openxmlformats.org/officeDocument/2006/relationships/tags" Target="../tags/tag73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2" Type="http://schemas.openxmlformats.org/officeDocument/2006/relationships/tags" Target="../tags/tag79.xml"/><Relationship Id="rId16" Type="http://schemas.openxmlformats.org/officeDocument/2006/relationships/image" Target="../media/image1.png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5" Type="http://schemas.openxmlformats.org/officeDocument/2006/relationships/image" Target="../media/image14.png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273300"/>
            <a:ext cx="12192000" cy="23622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" y="2540000"/>
            <a:ext cx="119888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疏散星团潮汐尾的辛积分模拟</a:t>
            </a:r>
            <a:endParaRPr lang="en-US" sz="2400" b="0" i="0" u="none" strike="noStrike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95300" y="304800"/>
            <a:ext cx="7874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95300" y="482600"/>
            <a:ext cx="12827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95300" y="660400"/>
            <a:ext cx="5461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 flipV="1">
            <a:off x="10871200" y="6121400"/>
            <a:ext cx="7874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 flipV="1">
            <a:off x="10375900" y="6299200"/>
            <a:ext cx="12827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 rot="10800000" flipV="1">
            <a:off x="11112500" y="6477000"/>
            <a:ext cx="5461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0" name="Connector 10"/>
          <p:cNvCxnSpPr/>
          <p:nvPr/>
        </p:nvCxnSpPr>
        <p:spPr>
          <a:xfrm>
            <a:off x="1130300" y="4241800"/>
            <a:ext cx="9931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35000" y="5461000"/>
            <a:ext cx="254000" cy="254000"/>
          </a:xfrm>
          <a:prstGeom prst="ellipse">
            <a:avLst/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5334000"/>
            <a:ext cx="457644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Kaiti SC"/>
                <a:cs typeface="Times New Roman" panose="02020603050405020304" charset="0"/>
                <a:sym typeface="Kaiti SC"/>
              </a:rPr>
              <a:t>答辩人：刘子寒  杨雯燕  周永畅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01000" y="5461000"/>
            <a:ext cx="254000" cy="254000"/>
          </a:xfrm>
          <a:prstGeom prst="ellipse">
            <a:avLst/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382000" y="5334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Kaiti SC"/>
                <a:cs typeface="Times New Roman" panose="02020603050405020304" charset="0"/>
                <a:sym typeface="Kaiti SC"/>
              </a:rPr>
              <a:t>时间：</a:t>
            </a: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2026.07.03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039100" y="5499100"/>
            <a:ext cx="202717" cy="202717"/>
          </a:xfrm>
          <a:custGeom>
            <a:avLst/>
            <a:gdLst/>
            <a:ahLst/>
            <a:cxnLst/>
            <a:rect l="l" t="t" r="r" b="b"/>
            <a:pathLst>
              <a:path w="202717" h="202717">
                <a:moveTo>
                  <a:pt x="162190" y="110711"/>
                </a:moveTo>
                <a:lnTo>
                  <a:pt x="100733" y="110711"/>
                </a:lnTo>
                <a:cubicBezTo>
                  <a:pt x="95529" y="110716"/>
                  <a:pt x="91310" y="106498"/>
                  <a:pt x="91310" y="101296"/>
                </a:cubicBezTo>
                <a:lnTo>
                  <a:pt x="91310" y="39831"/>
                </a:lnTo>
                <a:cubicBezTo>
                  <a:pt x="91310" y="34632"/>
                  <a:pt x="95526" y="30416"/>
                  <a:pt x="100726" y="30416"/>
                </a:cubicBezTo>
                <a:cubicBezTo>
                  <a:pt x="105926" y="30416"/>
                  <a:pt x="110141" y="34632"/>
                  <a:pt x="110141" y="39831"/>
                </a:cubicBezTo>
                <a:lnTo>
                  <a:pt x="110141" y="91857"/>
                </a:lnTo>
                <a:lnTo>
                  <a:pt x="162190" y="91857"/>
                </a:lnTo>
                <a:cubicBezTo>
                  <a:pt x="167390" y="91857"/>
                  <a:pt x="171606" y="96072"/>
                  <a:pt x="171606" y="101272"/>
                </a:cubicBezTo>
                <a:cubicBezTo>
                  <a:pt x="171606" y="106472"/>
                  <a:pt x="167390" y="110687"/>
                  <a:pt x="162190" y="110687"/>
                </a:cubicBezTo>
                <a:lnTo>
                  <a:pt x="162190" y="110711"/>
                </a:lnTo>
                <a:moveTo>
                  <a:pt x="101359" y="0"/>
                </a:moveTo>
                <a:cubicBezTo>
                  <a:pt x="45380" y="0"/>
                  <a:pt x="0" y="45380"/>
                  <a:pt x="0" y="101359"/>
                </a:cubicBezTo>
                <a:cubicBezTo>
                  <a:pt x="0" y="157338"/>
                  <a:pt x="45380" y="202717"/>
                  <a:pt x="101359" y="202717"/>
                </a:cubicBezTo>
                <a:cubicBezTo>
                  <a:pt x="157338" y="202717"/>
                  <a:pt x="202717" y="157338"/>
                  <a:pt x="202717" y="101359"/>
                </a:cubicBezTo>
                <a:cubicBezTo>
                  <a:pt x="202717" y="45380"/>
                  <a:pt x="157338" y="0"/>
                  <a:pt x="101359" y="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673100" y="5499100"/>
            <a:ext cx="248738" cy="163631"/>
          </a:xfrm>
          <a:custGeom>
            <a:avLst/>
            <a:gdLst/>
            <a:ahLst/>
            <a:cxnLst/>
            <a:rect l="l" t="t" r="r" b="b"/>
            <a:pathLst>
              <a:path w="248738" h="163631">
                <a:moveTo>
                  <a:pt x="45340" y="146026"/>
                </a:moveTo>
                <a:cubicBezTo>
                  <a:pt x="75482" y="146026"/>
                  <a:pt x="105626" y="151093"/>
                  <a:pt x="133234" y="163631"/>
                </a:cubicBezTo>
                <a:cubicBezTo>
                  <a:pt x="160845" y="151093"/>
                  <a:pt x="188454" y="143493"/>
                  <a:pt x="218597" y="143493"/>
                </a:cubicBezTo>
                <a:cubicBezTo>
                  <a:pt x="218597" y="58005"/>
                  <a:pt x="218597" y="58005"/>
                  <a:pt x="218597" y="58005"/>
                </a:cubicBezTo>
                <a:cubicBezTo>
                  <a:pt x="133234" y="70543"/>
                  <a:pt x="133234" y="70543"/>
                  <a:pt x="133234" y="70543"/>
                </a:cubicBezTo>
                <a:cubicBezTo>
                  <a:pt x="45340" y="58005"/>
                  <a:pt x="45340" y="58005"/>
                  <a:pt x="45340" y="58005"/>
                </a:cubicBezTo>
                <a:cubicBezTo>
                  <a:pt x="45340" y="146026"/>
                  <a:pt x="45340" y="146026"/>
                  <a:pt x="45340" y="146026"/>
                </a:cubicBezTo>
                <a:moveTo>
                  <a:pt x="248738" y="20137"/>
                </a:moveTo>
                <a:cubicBezTo>
                  <a:pt x="248738" y="42807"/>
                  <a:pt x="248738" y="42807"/>
                  <a:pt x="248738" y="42807"/>
                </a:cubicBezTo>
                <a:cubicBezTo>
                  <a:pt x="133234" y="60540"/>
                  <a:pt x="133234" y="60540"/>
                  <a:pt x="133234" y="60540"/>
                </a:cubicBezTo>
                <a:cubicBezTo>
                  <a:pt x="17603" y="42807"/>
                  <a:pt x="17603" y="42807"/>
                  <a:pt x="17603" y="42807"/>
                </a:cubicBezTo>
                <a:cubicBezTo>
                  <a:pt x="17603" y="85615"/>
                  <a:pt x="17603" y="85615"/>
                  <a:pt x="17603" y="85615"/>
                </a:cubicBezTo>
                <a:cubicBezTo>
                  <a:pt x="20137" y="88148"/>
                  <a:pt x="22670" y="90681"/>
                  <a:pt x="22670" y="93214"/>
                </a:cubicBezTo>
                <a:cubicBezTo>
                  <a:pt x="22670" y="98280"/>
                  <a:pt x="17603" y="103219"/>
                  <a:pt x="12664" y="103219"/>
                </a:cubicBezTo>
                <a:cubicBezTo>
                  <a:pt x="10132" y="103219"/>
                  <a:pt x="5066" y="98280"/>
                  <a:pt x="5066" y="93214"/>
                </a:cubicBezTo>
                <a:cubicBezTo>
                  <a:pt x="5066" y="90681"/>
                  <a:pt x="7598" y="88148"/>
                  <a:pt x="10132" y="85615"/>
                </a:cubicBezTo>
                <a:cubicBezTo>
                  <a:pt x="10132" y="62945"/>
                  <a:pt x="10132" y="42807"/>
                  <a:pt x="10132" y="20137"/>
                </a:cubicBezTo>
                <a:cubicBezTo>
                  <a:pt x="133234" y="0"/>
                  <a:pt x="133234" y="0"/>
                  <a:pt x="133234" y="0"/>
                </a:cubicBezTo>
                <a:cubicBezTo>
                  <a:pt x="248738" y="20137"/>
                  <a:pt x="248738" y="20137"/>
                  <a:pt x="248738" y="20137"/>
                </a:cubicBezTo>
                <a:moveTo>
                  <a:pt x="20137" y="105752"/>
                </a:moveTo>
                <a:cubicBezTo>
                  <a:pt x="15071" y="108285"/>
                  <a:pt x="12664" y="108285"/>
                  <a:pt x="7598" y="105752"/>
                </a:cubicBezTo>
                <a:cubicBezTo>
                  <a:pt x="5066" y="118417"/>
                  <a:pt x="2532" y="130955"/>
                  <a:pt x="0" y="146026"/>
                </a:cubicBezTo>
                <a:cubicBezTo>
                  <a:pt x="2532" y="146026"/>
                  <a:pt x="5066" y="146026"/>
                  <a:pt x="5066" y="146026"/>
                </a:cubicBezTo>
                <a:cubicBezTo>
                  <a:pt x="7598" y="141088"/>
                  <a:pt x="7598" y="141088"/>
                  <a:pt x="7598" y="141088"/>
                </a:cubicBezTo>
                <a:cubicBezTo>
                  <a:pt x="7598" y="146026"/>
                  <a:pt x="7598" y="146026"/>
                  <a:pt x="7598" y="146026"/>
                </a:cubicBezTo>
                <a:cubicBezTo>
                  <a:pt x="10132" y="148560"/>
                  <a:pt x="12664" y="148560"/>
                  <a:pt x="15071" y="148560"/>
                </a:cubicBezTo>
                <a:cubicBezTo>
                  <a:pt x="17603" y="143493"/>
                  <a:pt x="17603" y="143493"/>
                  <a:pt x="17603" y="143493"/>
                </a:cubicBezTo>
                <a:cubicBezTo>
                  <a:pt x="17603" y="148560"/>
                  <a:pt x="17603" y="148560"/>
                  <a:pt x="17603" y="148560"/>
                </a:cubicBezTo>
                <a:lnTo>
                  <a:pt x="20137" y="148560"/>
                </a:lnTo>
                <a:cubicBezTo>
                  <a:pt x="20137" y="128422"/>
                  <a:pt x="20137" y="128422"/>
                  <a:pt x="20137" y="128422"/>
                </a:cubicBezTo>
                <a:cubicBezTo>
                  <a:pt x="22670" y="146026"/>
                  <a:pt x="22670" y="146026"/>
                  <a:pt x="22670" y="146026"/>
                </a:cubicBezTo>
                <a:cubicBezTo>
                  <a:pt x="25203" y="146026"/>
                  <a:pt x="25203" y="146026"/>
                  <a:pt x="27736" y="146026"/>
                </a:cubicBezTo>
                <a:cubicBezTo>
                  <a:pt x="25203" y="130955"/>
                  <a:pt x="22670" y="118417"/>
                  <a:pt x="20137" y="105752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00220" y="723900"/>
            <a:ext cx="3225800" cy="990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5400000">
            <a:off x="-1724025" y="2384425"/>
            <a:ext cx="5537200" cy="2076450"/>
          </a:xfrm>
          <a:prstGeom prst="trapezoid">
            <a:avLst>
              <a:gd name="adj" fmla="val 25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25425" y="1905000"/>
            <a:ext cx="1638300" cy="231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7200" b="0" i="0" u="none" strike="noStrike">
                <a:solidFill>
                  <a:srgbClr val="FFFFFF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目录</a:t>
            </a:r>
          </a:p>
        </p:txBody>
      </p:sp>
      <p:sp>
        <p:nvSpPr>
          <p:cNvPr id="5" name="AutoShape 5"/>
          <p:cNvSpPr/>
          <p:nvPr/>
        </p:nvSpPr>
        <p:spPr>
          <a:xfrm>
            <a:off x="50800" y="4254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CONTENTS</a:t>
            </a:r>
          </a:p>
        </p:txBody>
      </p:sp>
      <p:sp>
        <p:nvSpPr>
          <p:cNvPr id="6" name="AutoShape 6"/>
          <p:cNvSpPr/>
          <p:nvPr/>
        </p:nvSpPr>
        <p:spPr>
          <a:xfrm>
            <a:off x="2489835" y="1905000"/>
            <a:ext cx="685800" cy="685800"/>
          </a:xfrm>
          <a:prstGeom prst="ellipse">
            <a:avLst/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2502535" y="2019300"/>
            <a:ext cx="660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371850" y="2032000"/>
            <a:ext cx="3886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Kaiti SC"/>
                <a:cs typeface="Times New Roman" panose="02020603050405020304" charset="0"/>
                <a:sym typeface="Kaiti SC"/>
              </a:rPr>
              <a:t>研究背景与目标 (</a:t>
            </a: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Why</a:t>
            </a: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Kaiti SC"/>
                <a:cs typeface="Times New Roman" panose="02020603050405020304" charset="0"/>
                <a:sym typeface="Kaiti SC"/>
              </a:rPr>
              <a:t>)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426335" y="1841500"/>
            <a:ext cx="812800" cy="812800"/>
          </a:xfrm>
          <a:prstGeom prst="arc">
            <a:avLst>
              <a:gd name="adj1" fmla="val 16200000"/>
              <a:gd name="adj2" fmla="val 4863777"/>
            </a:avLst>
          </a:prstGeom>
          <a:noFill/>
          <a:ln w="38100" cap="flat" cmpd="sng">
            <a:solidFill>
              <a:srgbClr val="2C4A7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39685" y="1968500"/>
            <a:ext cx="685800" cy="685800"/>
          </a:xfrm>
          <a:prstGeom prst="ellipse">
            <a:avLst/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52385" y="2082800"/>
            <a:ext cx="660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432800" y="2032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Kaiti SC"/>
                <a:cs typeface="Times New Roman" panose="02020603050405020304" charset="0"/>
                <a:sym typeface="Kaiti SC"/>
              </a:rPr>
              <a:t>核心方法 (</a:t>
            </a: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How</a:t>
            </a: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Kaiti SC"/>
                <a:cs typeface="Times New Roman" panose="02020603050405020304" charset="0"/>
                <a:sym typeface="Kaiti SC"/>
              </a:rPr>
              <a:t>)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576185" y="1905000"/>
            <a:ext cx="812800" cy="812800"/>
          </a:xfrm>
          <a:prstGeom prst="arc">
            <a:avLst>
              <a:gd name="adj1" fmla="val 16200000"/>
              <a:gd name="adj2" fmla="val 4863777"/>
            </a:avLst>
          </a:prstGeom>
          <a:noFill/>
          <a:ln w="38100" cap="flat" cmpd="sng">
            <a:solidFill>
              <a:srgbClr val="2C4A7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2489835" y="3136900"/>
            <a:ext cx="685800" cy="685800"/>
          </a:xfrm>
          <a:prstGeom prst="ellipse">
            <a:avLst/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2502535" y="3251200"/>
            <a:ext cx="660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371850" y="32385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Kaiti SC"/>
                <a:cs typeface="Times New Roman" panose="02020603050405020304" charset="0"/>
                <a:sym typeface="Kaiti SC"/>
              </a:rPr>
              <a:t>关键结果与物理洞见 (</a:t>
            </a: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Insight</a:t>
            </a: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Kaiti SC"/>
                <a:cs typeface="Times New Roman" panose="02020603050405020304" charset="0"/>
                <a:sym typeface="Kaiti SC"/>
              </a:rPr>
              <a:t>)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2426335" y="3073400"/>
            <a:ext cx="812800" cy="812800"/>
          </a:xfrm>
          <a:prstGeom prst="arc">
            <a:avLst>
              <a:gd name="adj1" fmla="val 16200000"/>
              <a:gd name="adj2" fmla="val 4863777"/>
            </a:avLst>
          </a:prstGeom>
          <a:noFill/>
          <a:ln w="38100" cap="flat" cmpd="sng">
            <a:solidFill>
              <a:srgbClr val="2C4A7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489835" y="4445000"/>
            <a:ext cx="685800" cy="685800"/>
          </a:xfrm>
          <a:prstGeom prst="ellipse">
            <a:avLst/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2502535" y="4559300"/>
            <a:ext cx="660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371850" y="4556125"/>
            <a:ext cx="3886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参考文献</a:t>
            </a:r>
          </a:p>
        </p:txBody>
      </p:sp>
      <p:sp>
        <p:nvSpPr>
          <p:cNvPr id="21" name="AutoShape 21"/>
          <p:cNvSpPr/>
          <p:nvPr/>
        </p:nvSpPr>
        <p:spPr>
          <a:xfrm>
            <a:off x="2426335" y="4381500"/>
            <a:ext cx="812800" cy="812800"/>
          </a:xfrm>
          <a:prstGeom prst="arc">
            <a:avLst>
              <a:gd name="adj1" fmla="val 16200000"/>
              <a:gd name="adj2" fmla="val 4863777"/>
            </a:avLst>
          </a:prstGeom>
          <a:noFill/>
          <a:ln w="38100" cap="flat" cmpd="sng">
            <a:solidFill>
              <a:srgbClr val="2C4A7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39685" y="3200400"/>
            <a:ext cx="685800" cy="685800"/>
          </a:xfrm>
          <a:prstGeom prst="ellipse">
            <a:avLst/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52385" y="3314700"/>
            <a:ext cx="660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432800" y="3302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总结与展望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576185" y="3136900"/>
            <a:ext cx="812800" cy="812800"/>
          </a:xfrm>
          <a:prstGeom prst="arc">
            <a:avLst>
              <a:gd name="adj1" fmla="val 16200000"/>
              <a:gd name="adj2" fmla="val 4863777"/>
            </a:avLst>
          </a:prstGeom>
          <a:noFill/>
          <a:ln w="38100" cap="flat" cmpd="sng">
            <a:solidFill>
              <a:srgbClr val="2C4A7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9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444500" y="800100"/>
            <a:ext cx="8318500" cy="508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12700" cap="flat" cmpd="sng">
            <a:solidFill>
              <a:srgbClr val="0C1A2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44500" y="165100"/>
            <a:ext cx="571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团队分工与协作</a:t>
            </a:r>
          </a:p>
        </p:txBody>
      </p:sp>
      <p:sp>
        <p:nvSpPr>
          <p:cNvPr id="17" name="AutoShape 17"/>
          <p:cNvSpPr/>
          <p:nvPr>
            <p:custDataLst>
              <p:tags r:id="rId1"/>
            </p:custDataLst>
          </p:nvPr>
        </p:nvSpPr>
        <p:spPr>
          <a:xfrm>
            <a:off x="740410" y="1101725"/>
            <a:ext cx="3368675" cy="8280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99B5D7">
                  <a:alpha val="80000"/>
                </a:srgbClr>
              </a:gs>
              <a:gs pos="100000">
                <a:srgbClr val="213854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刘子寒|核心算法实现</a:t>
            </a:r>
          </a:p>
        </p:txBody>
      </p:sp>
      <p:sp>
        <p:nvSpPr>
          <p:cNvPr id="18" name="AutoShape 18"/>
          <p:cNvSpPr/>
          <p:nvPr>
            <p:custDataLst>
              <p:tags r:id="rId2"/>
            </p:custDataLst>
          </p:nvPr>
        </p:nvSpPr>
        <p:spPr>
          <a:xfrm>
            <a:off x="4245610" y="1101725"/>
            <a:ext cx="3700780" cy="8280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99B5D7">
                  <a:alpha val="80000"/>
                </a:srgbClr>
              </a:gs>
              <a:gs pos="100000">
                <a:srgbClr val="213854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杨雯燕|数据分析可视化</a:t>
            </a:r>
          </a:p>
        </p:txBody>
      </p:sp>
      <p:sp>
        <p:nvSpPr>
          <p:cNvPr id="19" name="AutoShape 19"/>
          <p:cNvSpPr/>
          <p:nvPr>
            <p:custDataLst>
              <p:tags r:id="rId3"/>
            </p:custDataLst>
          </p:nvPr>
        </p:nvSpPr>
        <p:spPr>
          <a:xfrm>
            <a:off x="8082915" y="1101725"/>
            <a:ext cx="3661410" cy="82740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99B5D7">
                  <a:alpha val="80000"/>
                </a:srgbClr>
              </a:gs>
              <a:gs pos="100000">
                <a:srgbClr val="213854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周永畅|模型构建与论文</a:t>
            </a:r>
          </a:p>
        </p:txBody>
      </p:sp>
      <p:sp>
        <p:nvSpPr>
          <p:cNvPr id="20" name="AutoShape 20"/>
          <p:cNvSpPr/>
          <p:nvPr>
            <p:custDataLst>
              <p:tags r:id="rId4"/>
            </p:custDataLst>
          </p:nvPr>
        </p:nvSpPr>
        <p:spPr>
          <a:xfrm>
            <a:off x="740410" y="2298065"/>
            <a:ext cx="3368040" cy="3012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342900" indent="-342900" algn="l">
              <a:lnSpc>
                <a:spcPct val="108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负责</a:t>
            </a:r>
            <a:r>
              <a:rPr lang="en-US" sz="2400" b="0" i="0" u="none" strike="noStrike">
                <a:solidFill>
                  <a:srgbClr val="1F2329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Velocity Verlet </a:t>
            </a:r>
            <a:r>
              <a:rPr 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辛积分算法的代码实现与深度优化</a:t>
            </a:r>
            <a:r>
              <a:rPr lang="zh-CN" alt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</a:p>
          <a:p>
            <a:pPr marL="342900" indent="-342900" algn="l">
              <a:lnSpc>
                <a:spcPct val="108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搭建高效计算框架，完成</a:t>
            </a:r>
            <a:r>
              <a:rPr lang="en-US" sz="2400" b="0" i="0" u="none" strike="noStrike">
                <a:solidFill>
                  <a:srgbClr val="1F2329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N </a:t>
            </a:r>
            <a:r>
              <a:rPr 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体模型的大规模数值模拟</a:t>
            </a:r>
            <a:r>
              <a:rPr lang="zh-CN" alt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</a:p>
        </p:txBody>
      </p:sp>
      <p:sp>
        <p:nvSpPr>
          <p:cNvPr id="21" name="AutoShape 21"/>
          <p:cNvSpPr/>
          <p:nvPr>
            <p:custDataLst>
              <p:tags r:id="rId5"/>
            </p:custDataLst>
          </p:nvPr>
        </p:nvSpPr>
        <p:spPr>
          <a:xfrm>
            <a:off x="4245610" y="2298065"/>
            <a:ext cx="3701415" cy="3012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342900" indent="-342900" algn="l">
              <a:lnSpc>
                <a:spcPct val="108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负责</a:t>
            </a:r>
            <a:r>
              <a:rPr 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模拟结果的系统性统计分析</a:t>
            </a:r>
            <a:r>
              <a:rPr lang="zh-CN" alt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。</a:t>
            </a:r>
          </a:p>
          <a:p>
            <a:pPr marL="342900" indent="-342900" algn="l">
              <a:lnSpc>
                <a:spcPct val="108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计算能量误差、粒子逃逸比例等核心指标</a:t>
            </a:r>
            <a:r>
              <a:rPr lang="zh-CN" alt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。</a:t>
            </a:r>
          </a:p>
          <a:p>
            <a:pPr marL="342900" indent="-342900" algn="l">
              <a:lnSpc>
                <a:spcPct val="108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运用专业工具完成所有实验图表的绘制与可视化解读。</a:t>
            </a:r>
          </a:p>
        </p:txBody>
      </p:sp>
      <p:sp>
        <p:nvSpPr>
          <p:cNvPr id="22" name="AutoShape 22"/>
          <p:cNvSpPr/>
          <p:nvPr>
            <p:custDataLst>
              <p:tags r:id="rId6"/>
            </p:custDataLst>
          </p:nvPr>
        </p:nvSpPr>
        <p:spPr>
          <a:xfrm>
            <a:off x="8084820" y="2298065"/>
            <a:ext cx="3659505" cy="3012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342900" indent="-342900" algn="l">
              <a:lnSpc>
                <a:spcPct val="108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负责</a:t>
            </a:r>
            <a:r>
              <a:rPr 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物理模型的构建与关键公式推导</a:t>
            </a:r>
          </a:p>
          <a:p>
            <a:pPr marL="342900" indent="-342900" algn="l">
              <a:lnSpc>
                <a:spcPct val="108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主笔撰写学术论文，梳理研究逻辑</a:t>
            </a:r>
            <a:r>
              <a:rPr lang="zh-CN" altLang="en-US" sz="24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。</a:t>
            </a:r>
            <a:endParaRPr lang="en-US" sz="2400" b="0" i="0" u="none" strike="noStrike">
              <a:solidFill>
                <a:srgbClr val="1F2329"/>
              </a:solidFill>
              <a:latin typeface="楷体" panose="02010609060101010101" charset="-122"/>
              <a:ea typeface="楷体" panose="02010609060101010101" charset="-122"/>
              <a:cs typeface="Kaiti SC"/>
              <a:sym typeface="Kaiti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103880" y="2095500"/>
            <a:ext cx="4737100" cy="10922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72135" y="1524000"/>
            <a:ext cx="29464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0" b="1" i="0" u="none" strike="noStrike">
                <a:solidFill>
                  <a:srgbClr val="2C4A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415030" y="2095500"/>
            <a:ext cx="4114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研究背景与框架</a:t>
            </a:r>
          </a:p>
          <a:p>
            <a:pPr marL="0" indent="0" algn="l">
              <a:lnSpc>
                <a:spcPct val="92000"/>
              </a:lnSpc>
              <a:defRPr/>
            </a:pPr>
            <a:endParaRPr lang="en-US" sz="1200" b="1" i="0" u="none" strike="noStrike">
              <a:solidFill>
                <a:srgbClr val="FFFFFF"/>
              </a:solidFill>
              <a:latin typeface="Times New Roman" panose="02020603050405020304" charset="0"/>
              <a:ea typeface="Kaiti SC"/>
              <a:cs typeface="Kaiti SC"/>
              <a:sym typeface="Kaiti SC"/>
            </a:endParaRPr>
          </a:p>
          <a:p>
            <a:pPr marL="0" indent="0" algn="l">
              <a:lnSpc>
                <a:spcPct val="92000"/>
              </a:lnSpc>
              <a:defRPr/>
            </a:pPr>
            <a:r>
              <a:rPr lang="zh-CN" altLang="en-US" sz="2400" i="0" u="none" strike="noStrike">
                <a:solidFill>
                  <a:srgbClr val="FFFFFF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主讲人：周永畅</a:t>
            </a:r>
            <a:endParaRPr lang="en-US" sz="900">
              <a:latin typeface="Times New Roman" panose="02020603050405020304" charset="0"/>
            </a:endParaRPr>
          </a:p>
          <a:p>
            <a:pPr marL="0" indent="0" algn="l">
              <a:lnSpc>
                <a:spcPct val="92000"/>
              </a:lnSpc>
            </a:pPr>
            <a:endParaRPr lang="en-US" sz="900" i="0" u="none" strike="noStrike">
              <a:solidFill>
                <a:srgbClr val="FFFFFF"/>
              </a:solidFill>
              <a:latin typeface="Times New Roman" panose="02020603050405020304" charset="0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373120" y="3556000"/>
            <a:ext cx="7003415" cy="280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546100" indent="-254000"/>
            <a:lvl2pPr marL="1003300" indent="-254000"/>
            <a:lvl3pPr marL="1460500" indent="-254000"/>
            <a:lvl4pPr marL="1917700" indent="-254000"/>
            <a:lvl5pPr marL="2374900" indent="-254000"/>
            <a:lvl6pPr marL="2832100" indent="-254000"/>
            <a:lvl7pPr marL="3289300" indent="-254000"/>
            <a:lvl8pPr marL="3746500" indent="-254000"/>
            <a:lvl9pPr marL="4203700" indent="-254000"/>
          </a:lstStyle>
          <a:p>
            <a:pPr marL="292100" indent="-279400" algn="l">
              <a:lnSpc>
                <a:spcPct val="100000"/>
              </a:lnSpc>
              <a:buClr>
                <a:srgbClr val="2C4A70"/>
              </a:buClr>
              <a:buFont typeface="Arial" panose="020B0604020202020204"/>
              <a:buChar char="•"/>
              <a:defRPr/>
            </a:pPr>
            <a:r>
              <a:rPr lang="en-US" sz="24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研究背景：</a:t>
            </a:r>
            <a:r>
              <a:rPr lang="en-US" sz="2000" b="0" i="0" u="none" strike="noStrike">
                <a:solidFill>
                  <a:srgbClr val="32323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聚焦疏散星团在银河系潮汐场中的动力学演化过程。</a:t>
            </a:r>
            <a:endParaRPr lang="en-US" sz="1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92100" indent="-279400" algn="l">
              <a:lnSpc>
                <a:spcPct val="100000"/>
              </a:lnSpc>
              <a:buClr>
                <a:srgbClr val="2C4A70"/>
              </a:buClr>
              <a:buFont typeface="Arial" panose="020B0604020202020204"/>
              <a:buChar char="•"/>
            </a:pPr>
            <a:r>
              <a:rPr lang="en-US" sz="24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物理模型：</a:t>
            </a:r>
            <a:r>
              <a:rPr lang="en-US" sz="2000" b="0" i="0" u="none" strike="noStrike">
                <a:solidFill>
                  <a:srgbClr val="32323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Construct an N-body numerical model with Plummer potential and tidal truncation potential field.</a:t>
            </a:r>
            <a:endParaRPr lang="en-US" sz="2000" b="0" i="0" u="none" strike="noStrike">
              <a:solidFill>
                <a:srgbClr val="32323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Times New Roman" panose="02020603050405020304"/>
            </a:endParaRPr>
          </a:p>
          <a:p>
            <a:pPr marL="292100" indent="-279400" algn="l">
              <a:lnSpc>
                <a:spcPct val="100000"/>
              </a:lnSpc>
              <a:buClr>
                <a:srgbClr val="2C4A70"/>
              </a:buClr>
              <a:buFont typeface="Arial" panose="020B0604020202020204"/>
              <a:buChar char="•"/>
            </a:pPr>
            <a:r>
              <a:rPr lang="en-US" sz="24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核心结论：</a:t>
            </a:r>
            <a:r>
              <a:rPr lang="en-US" sz="2000" b="0" i="0" u="none" strike="noStrike">
                <a:solidFill>
                  <a:srgbClr val="32323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揭示了星团质量损失与半质量半径演化的关键物理机制。</a:t>
            </a:r>
          </a:p>
          <a:p>
            <a:pPr marL="292100" indent="-279400" algn="l">
              <a:lnSpc>
                <a:spcPct val="100000"/>
              </a:lnSpc>
              <a:buClr>
                <a:srgbClr val="2C4A70"/>
              </a:buClr>
              <a:buFont typeface="Arial" panose="020B0604020202020204"/>
              <a:buChar char="•"/>
            </a:pPr>
            <a:r>
              <a:rPr lang="en-US" sz="24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观测连接：</a:t>
            </a:r>
            <a:r>
              <a:rPr lang="en-US" sz="2000" b="0" i="0" u="none" strike="noStrike">
                <a:solidFill>
                  <a:srgbClr val="32323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Validate and calibrate model predictions using Gaia DR3 data.</a:t>
            </a:r>
          </a:p>
        </p:txBody>
      </p:sp>
      <p:sp>
        <p:nvSpPr>
          <p:cNvPr id="15" name="AutoShape 15"/>
          <p:cNvSpPr/>
          <p:nvPr/>
        </p:nvSpPr>
        <p:spPr>
          <a:xfrm rot="10800000" flipV="1">
            <a:off x="10871200" y="6121400"/>
            <a:ext cx="7874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 flipV="1">
            <a:off x="10375900" y="6299200"/>
            <a:ext cx="12827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 rot="10800000" flipV="1">
            <a:off x="11112500" y="6477000"/>
            <a:ext cx="5461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381000" y="1651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背景介绍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81000" y="800100"/>
            <a:ext cx="8318500" cy="508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12700" cap="flat" cmpd="sng">
            <a:solidFill>
              <a:srgbClr val="0C1A2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68045" y="1333500"/>
            <a:ext cx="10419080" cy="501904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algn="ctr" rotWithShape="0">
              <a:srgbClr val="808080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175000" y="1439545"/>
            <a:ext cx="5842000" cy="635000"/>
          </a:xfrm>
          <a:prstGeom prst="roundRect">
            <a:avLst>
              <a:gd name="adj" fmla="val 2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疏散星团的潮汐演化机制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136015" y="2186305"/>
            <a:ext cx="9940925" cy="38023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63500" rIns="1016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2C4A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 </a:t>
            </a:r>
            <a:r>
              <a:rPr lang="en-US" sz="32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内部两体弛豫：</a:t>
            </a:r>
            <a:r>
              <a:rPr lang="en-US" sz="2400" b="0" i="0" u="none" strike="noStrike">
                <a:solidFill>
                  <a:srgbClr val="374151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恒星间通过引力相互作用持续交换能量，导致部分恒星获得高于星团逃逸速度的动能，为恒星脱离星团埋下伏笔。</a:t>
            </a:r>
          </a:p>
          <a:p>
            <a:pPr marL="0" indent="0" algn="l">
              <a:lnSpc>
                <a:spcPct val="100000"/>
              </a:lnSpc>
              <a:defRPr/>
            </a:pPr>
            <a:endParaRPr lang="en-US" sz="1800">
              <a:latin typeface="楷体" panose="02010609060101010101" charset="-122"/>
              <a:ea typeface="楷体" panose="0201060906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2C4A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 </a:t>
            </a:r>
            <a:r>
              <a:rPr lang="en-US" sz="32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外部潮汐剥离：</a:t>
            </a:r>
            <a:r>
              <a:rPr lang="en-US" sz="2400" b="0" i="0" u="none" strike="noStrike">
                <a:solidFill>
                  <a:srgbClr val="374151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银河系引力场在星团空间上产生不对称的拉伸与压缩效应，形成潮汐极限，突破该极限的恒星将被星系引力强行剥离。</a:t>
            </a:r>
          </a:p>
          <a:p>
            <a:pPr marL="0" indent="0" algn="l">
              <a:lnSpc>
                <a:spcPct val="100000"/>
              </a:lnSpc>
            </a:pPr>
            <a:endParaRPr lang="en-US" sz="2400" b="0" i="0" u="none" strike="noStrike">
              <a:solidFill>
                <a:srgbClr val="374151"/>
              </a:solidFill>
              <a:latin typeface="楷体" panose="02010609060101010101" charset="-122"/>
              <a:ea typeface="楷体" panose="02010609060101010101" charset="-122"/>
              <a:cs typeface="Kaiti SC"/>
              <a:sym typeface="Kaiti SC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2C4A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 </a:t>
            </a:r>
            <a:r>
              <a:rPr lang="en-US" sz="32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潮汐尾结构形成：</a:t>
            </a:r>
            <a:r>
              <a:rPr lang="en-US" sz="2400" b="0" i="0" u="none" strike="noStrike">
                <a:solidFill>
                  <a:srgbClr val="374151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被剥离的高速恒星在轨道运动中形成两条细长的星流，即沿轨道运动方向的前导尾和相反方向的后随尾，构成星团演化的显著特征。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8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>
            <p:custDataLst>
              <p:tags r:id="rId1"/>
            </p:custDataLst>
          </p:nvPr>
        </p:nvSpPr>
        <p:spPr>
          <a:xfrm rot="-5400000" flipV="1">
            <a:off x="5626100" y="3162300"/>
            <a:ext cx="940567" cy="1468942"/>
          </a:xfrm>
          <a:custGeom>
            <a:avLst/>
            <a:gdLst/>
            <a:ahLst/>
            <a:cxnLst/>
            <a:rect l="l" t="t" r="r" b="b"/>
            <a:pathLst>
              <a:path w="940567" h="1468942">
                <a:moveTo>
                  <a:pt x="457959" y="0"/>
                </a:moveTo>
                <a:cubicBezTo>
                  <a:pt x="538686" y="180353"/>
                  <a:pt x="608647" y="317514"/>
                  <a:pt x="845444" y="476272"/>
                </a:cubicBezTo>
                <a:lnTo>
                  <a:pt x="665075" y="476272"/>
                </a:lnTo>
                <a:lnTo>
                  <a:pt x="691608" y="672758"/>
                </a:lnTo>
                <a:cubicBezTo>
                  <a:pt x="738269" y="946249"/>
                  <a:pt x="816712" y="1223795"/>
                  <a:pt x="940567" y="1468942"/>
                </a:cubicBezTo>
                <a:lnTo>
                  <a:pt x="0" y="1468942"/>
                </a:lnTo>
                <a:cubicBezTo>
                  <a:pt x="123853" y="1212996"/>
                  <a:pt x="208356" y="932751"/>
                  <a:pt x="253500" y="664660"/>
                </a:cubicBezTo>
                <a:lnTo>
                  <a:pt x="276469" y="476272"/>
                </a:lnTo>
                <a:lnTo>
                  <a:pt x="70475" y="476272"/>
                </a:lnTo>
                <a:cubicBezTo>
                  <a:pt x="296507" y="324712"/>
                  <a:pt x="409524" y="137161"/>
                  <a:pt x="457959" y="0"/>
                </a:cubicBezTo>
                <a:close/>
              </a:path>
            </a:pathLst>
          </a:custGeom>
          <a:gradFill rotWithShape="1">
            <a:gsLst>
              <a:gs pos="0">
                <a:srgbClr val="80A2CD">
                  <a:alpha val="10000"/>
                </a:srgbClr>
              </a:gs>
              <a:gs pos="100000">
                <a:srgbClr val="2C4A70">
                  <a:alpha val="100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02590" y="800100"/>
            <a:ext cx="8318500" cy="508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12700" cap="flat" cmpd="sng">
            <a:solidFill>
              <a:srgbClr val="0C1A2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02590" y="1651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41414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物理模型构建</a:t>
            </a:r>
          </a:p>
        </p:txBody>
      </p:sp>
      <p:sp>
        <p:nvSpPr>
          <p:cNvPr id="12" name="AutoShape 12"/>
          <p:cNvSpPr/>
          <p:nvPr>
            <p:custDataLst>
              <p:tags r:id="rId2"/>
            </p:custDataLst>
          </p:nvPr>
        </p:nvSpPr>
        <p:spPr>
          <a:xfrm>
            <a:off x="291465" y="1584325"/>
            <a:ext cx="5022215" cy="5081905"/>
          </a:xfrm>
          <a:prstGeom prst="roundRect">
            <a:avLst>
              <a:gd name="adj" fmla="val 0"/>
            </a:avLst>
          </a:prstGeom>
          <a:solidFill>
            <a:srgbClr val="CCDAEB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95985" y="974090"/>
            <a:ext cx="3333115" cy="609600"/>
          </a:xfrm>
          <a:prstGeom prst="roundRect">
            <a:avLst>
              <a:gd name="adj" fmla="val 33333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38100" rIns="63500" bIns="381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Plummer </a:t>
            </a:r>
            <a:r>
              <a:rPr lang="en-US" sz="28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/>
                <a:sym typeface="Times New Roman" panose="02020603050405020304"/>
              </a:rPr>
              <a:t>软化引力</a:t>
            </a:r>
          </a:p>
        </p:txBody>
      </p:sp>
      <p:sp>
        <p:nvSpPr>
          <p:cNvPr id="16" name="AutoShape 16"/>
          <p:cNvSpPr/>
          <p:nvPr>
            <p:custDataLst>
              <p:tags r:id="rId3"/>
            </p:custDataLst>
          </p:nvPr>
        </p:nvSpPr>
        <p:spPr>
          <a:xfrm>
            <a:off x="291465" y="1584325"/>
            <a:ext cx="5022215" cy="4857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 dirty="0" err="1">
                <a:solidFill>
                  <a:srgbClr val="0A28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核心原理：</a:t>
            </a:r>
            <a:r>
              <a:rPr lang="en-US" sz="2400" b="0" i="0" u="none" strike="noStrike" dirty="0" err="1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为避免恒星近距离相遇引发的数值计算发散问题，引入软化长度</a:t>
            </a:r>
            <a:r>
              <a:rPr lang="en-US" sz="2400" b="0" i="0" u="none" strike="noStrike" dirty="0">
                <a:solidFill>
                  <a:srgbClr val="282828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ε </a:t>
            </a:r>
            <a:r>
              <a:rPr lang="en-US" sz="2400" b="0" i="0" u="none" strike="noStrike" dirty="0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，</a:t>
            </a:r>
            <a:r>
              <a:rPr lang="en-US" sz="2400" b="0" i="0" u="none" strike="noStrike" dirty="0" err="1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将理想化的点状质量处理为具有有限大小的球体模型，确保引力计算的稳定性</a:t>
            </a:r>
            <a:r>
              <a:rPr lang="en-US" sz="2400" b="0" i="0" u="none" strike="noStrike" dirty="0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  <a:endParaRPr lang="en-US" sz="16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2400" b="1" i="0" u="none" strike="noStrike" dirty="0" err="1">
                <a:solidFill>
                  <a:srgbClr val="0A28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引力加速度公式</a:t>
            </a:r>
            <a:r>
              <a:rPr lang="en-US" sz="2400" b="1" i="0" u="none" strike="noStrike" dirty="0">
                <a:solidFill>
                  <a:srgbClr val="0A28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：</a:t>
            </a:r>
          </a:p>
          <a:p>
            <a:pPr marL="0" indent="0" algn="l">
              <a:lnSpc>
                <a:spcPct val="108000"/>
              </a:lnSpc>
            </a:pPr>
            <a:endParaRPr lang="en-US" sz="2400" b="0" i="0" u="none" strike="noStrike" dirty="0">
              <a:solidFill>
                <a:srgbClr val="505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Kaiti SC"/>
            </a:endParaRPr>
          </a:p>
          <a:p>
            <a:pPr marL="0" indent="0" algn="l">
              <a:lnSpc>
                <a:spcPct val="108000"/>
              </a:lnSpc>
            </a:pPr>
            <a:endParaRPr lang="en-US" sz="2400" dirty="0">
              <a:solidFill>
                <a:srgbClr val="505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Kaiti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2400" b="0" i="0" u="none" strike="noStrike" dirty="0" err="1">
                <a:solidFill>
                  <a:srgbClr val="505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该修正让近距离引力不再趋向无穷大，有效解决了</a:t>
            </a:r>
            <a:r>
              <a:rPr lang="en-US" sz="2400" b="0" i="0" u="none" strike="noStrike" dirty="0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N </a:t>
            </a:r>
            <a:r>
              <a:rPr lang="en-US" sz="2400" b="0" i="0" u="none" strike="noStrike" dirty="0" err="1">
                <a:solidFill>
                  <a:srgbClr val="505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体模拟中的数值奇点问题，是恒星动力学模拟的基础技术手段</a:t>
            </a:r>
            <a:r>
              <a:rPr lang="en-US" sz="2400" b="0" i="0" u="none" strike="noStrike" dirty="0">
                <a:solidFill>
                  <a:srgbClr val="505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6878955" y="974090"/>
            <a:ext cx="4860290" cy="5692140"/>
            <a:chOff x="10833" y="1534"/>
            <a:chExt cx="7654" cy="8964"/>
          </a:xfrm>
        </p:grpSpPr>
        <p:sp>
          <p:nvSpPr>
            <p:cNvPr id="14" name="AutoShape 14"/>
            <p:cNvSpPr/>
            <p:nvPr>
              <p:custDataLst>
                <p:tags r:id="rId4"/>
              </p:custDataLst>
            </p:nvPr>
          </p:nvSpPr>
          <p:spPr>
            <a:xfrm>
              <a:off x="10833" y="2428"/>
              <a:ext cx="7632" cy="8070"/>
            </a:xfrm>
            <a:prstGeom prst="roundRect">
              <a:avLst>
                <a:gd name="adj" fmla="val 0"/>
              </a:avLst>
            </a:prstGeom>
            <a:solidFill>
              <a:srgbClr val="CCDAEB">
                <a:alpha val="5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1543" y="1534"/>
              <a:ext cx="4784" cy="960"/>
            </a:xfrm>
            <a:prstGeom prst="roundRect">
              <a:avLst>
                <a:gd name="adj" fmla="val 33333"/>
              </a:avLst>
            </a:prstGeom>
            <a:solidFill>
              <a:srgbClr val="2C4A7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38100" rIns="63500" bIns="38100" rtlCol="0" anchor="ctr" anchorCtr="0"/>
            <a:lstStyle/>
            <a:p>
              <a:pPr marL="0" indent="0" algn="ctr">
                <a:lnSpc>
                  <a:spcPct val="92000"/>
                </a:lnSpc>
                <a:defRPr/>
              </a:pPr>
              <a:r>
                <a:rPr lang="en-US" sz="2800" b="1" i="0" u="none" strike="noStrike">
                  <a:solidFill>
                    <a:srgbClr val="FFFFFF"/>
                  </a:solidFill>
                  <a:latin typeface="楷体" panose="02010609060101010101" charset="-122"/>
                  <a:ea typeface="楷体" panose="02010609060101010101" charset="-122"/>
                  <a:cs typeface="Kaiti SC"/>
                  <a:sym typeface="Kaiti SC"/>
                </a:rPr>
                <a:t>外部潮汐场模拟</a:t>
              </a:r>
            </a:p>
          </p:txBody>
        </p:sp>
        <p:sp>
          <p:nvSpPr>
            <p:cNvPr id="17" name="AutoShape 17"/>
            <p:cNvSpPr/>
            <p:nvPr>
              <p:custDataLst>
                <p:tags r:id="rId5"/>
              </p:custDataLst>
            </p:nvPr>
          </p:nvSpPr>
          <p:spPr>
            <a:xfrm>
              <a:off x="10833" y="2495"/>
              <a:ext cx="7654" cy="765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101600" tIns="76200" rIns="101600" bIns="76200" rtlCol="0" anchor="t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2400" b="1" i="0" u="none" strike="noStrike" dirty="0" err="1">
                  <a:solidFill>
                    <a:srgbClr val="0A2850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Kaiti SC"/>
                </a:rPr>
                <a:t>场源设定：</a:t>
              </a:r>
              <a:r>
                <a:rPr lang="en-US" sz="2400" b="0" i="0" u="none" strike="noStrike" dirty="0" err="1">
                  <a:solidFill>
                    <a:srgbClr val="282828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Kaiti SC"/>
                </a:rPr>
                <a:t>引入简化的线性潮汐场来模拟银河系引力势对目标系统的作用，该场在空间上呈现各向异性特征：</a:t>
              </a:r>
              <a:r>
                <a:rPr lang="en-US" sz="2400" b="0" i="0" u="none" strike="noStrike" dirty="0" err="1">
                  <a:solidFill>
                    <a:srgbClr val="282828"/>
                  </a:solidFill>
                  <a:latin typeface="Times New Roman" panose="02020603050405020304" charset="0"/>
                  <a:ea typeface="楷体" panose="02010609060101010101" charset="-122"/>
                  <a:cs typeface="Times New Roman" panose="02020603050405020304" charset="0"/>
                  <a:sym typeface="Kaiti SC"/>
                </a:rPr>
                <a:t>x</a:t>
              </a:r>
              <a:r>
                <a:rPr lang="en-US" sz="2400" b="0" i="0" u="none" strike="noStrike" dirty="0">
                  <a:solidFill>
                    <a:srgbClr val="282828"/>
                  </a:solidFill>
                  <a:latin typeface="Times New Roman" panose="02020603050405020304" charset="0"/>
                  <a:ea typeface="楷体" panose="02010609060101010101" charset="-122"/>
                  <a:cs typeface="Times New Roman" panose="02020603050405020304" charset="0"/>
                  <a:sym typeface="Kaiti SC"/>
                </a:rPr>
                <a:t> </a:t>
              </a:r>
              <a:r>
                <a:rPr lang="en-US" sz="2400" b="0" i="0" u="none" strike="noStrike" dirty="0" err="1">
                  <a:solidFill>
                    <a:srgbClr val="282828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Kaiti SC"/>
                </a:rPr>
                <a:t>方向表现为拉伸效应，</a:t>
              </a:r>
              <a:r>
                <a:rPr lang="en-US" sz="2400" b="0" i="0" u="none" strike="noStrike" dirty="0" err="1">
                  <a:solidFill>
                    <a:srgbClr val="282828"/>
                  </a:solidFill>
                  <a:latin typeface="Times New Roman" panose="02020603050405020304" charset="0"/>
                  <a:ea typeface="楷体" panose="02010609060101010101" charset="-122"/>
                  <a:cs typeface="Times New Roman" panose="02020603050405020304" charset="0"/>
                  <a:sym typeface="Kaiti SC"/>
                </a:rPr>
                <a:t>y</a:t>
              </a:r>
              <a:r>
                <a:rPr lang="en-US" sz="2400" b="0" i="0" u="none" strike="noStrike" dirty="0">
                  <a:solidFill>
                    <a:srgbClr val="282828"/>
                  </a:solidFill>
                  <a:latin typeface="Times New Roman" panose="02020603050405020304" charset="0"/>
                  <a:ea typeface="楷体" panose="02010609060101010101" charset="-122"/>
                  <a:cs typeface="Times New Roman" panose="02020603050405020304" charset="0"/>
                  <a:sym typeface="Kaiti SC"/>
                </a:rPr>
                <a:t> </a:t>
              </a:r>
              <a:r>
                <a:rPr lang="en-US" sz="2400" b="0" i="0" u="none" strike="noStrike" dirty="0" err="1">
                  <a:solidFill>
                    <a:srgbClr val="282828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Kaiti SC"/>
                </a:rPr>
                <a:t>方向表现为压缩效应</a:t>
              </a:r>
              <a:r>
                <a:rPr lang="en-US" sz="2400" b="0" i="0" u="none" strike="noStrike" dirty="0">
                  <a:solidFill>
                    <a:srgbClr val="282828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Kaiti SC"/>
                </a:rPr>
                <a:t>。</a:t>
              </a:r>
              <a:endParaRPr lang="en-US" sz="18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endParaRPr>
            </a:p>
            <a:p>
              <a:pPr marL="0" indent="0" algn="l">
                <a:lnSpc>
                  <a:spcPct val="108000"/>
                </a:lnSpc>
              </a:pPr>
              <a:r>
                <a:rPr lang="en-US" sz="2400" b="1" i="0" u="none" strike="noStrike" dirty="0" err="1">
                  <a:solidFill>
                    <a:srgbClr val="0A2850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Kaiti SC"/>
                </a:rPr>
                <a:t>潮汐加速度分量</a:t>
              </a:r>
              <a:r>
                <a:rPr lang="en-US" sz="2400" b="1" i="0" u="none" strike="noStrike" dirty="0">
                  <a:solidFill>
                    <a:srgbClr val="0A2850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Kaiti SC"/>
                </a:rPr>
                <a:t>：</a:t>
              </a:r>
            </a:p>
            <a:p>
              <a:pPr marL="0" indent="0" algn="l">
                <a:lnSpc>
                  <a:spcPct val="108000"/>
                </a:lnSpc>
              </a:pPr>
              <a:endParaRPr lang="en-US" sz="2400" b="0" i="0" u="none" strike="noStrike" dirty="0">
                <a:solidFill>
                  <a:srgbClr val="505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endParaRPr>
            </a:p>
            <a:p>
              <a:pPr marL="0" indent="0" algn="l">
                <a:lnSpc>
                  <a:spcPct val="108000"/>
                </a:lnSpc>
              </a:pPr>
              <a:endParaRPr lang="en-US" sz="2400" dirty="0">
                <a:solidFill>
                  <a:srgbClr val="505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endParaRPr>
            </a:p>
            <a:p>
              <a:pPr marL="0" indent="0" algn="l">
                <a:lnSpc>
                  <a:spcPct val="108000"/>
                </a:lnSpc>
              </a:pPr>
              <a:r>
                <a:rPr lang="en-US" sz="2400" b="0" i="0" u="none" strike="noStrike" dirty="0" err="1">
                  <a:solidFill>
                    <a:srgbClr val="505050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Kaiti SC"/>
                </a:rPr>
                <a:t>其中</a:t>
              </a:r>
              <a:r>
                <a:rPr lang="en-US" sz="2400" b="0" i="0" u="none" strike="noStrike" dirty="0">
                  <a:solidFill>
                    <a:srgbClr val="505050"/>
                  </a:solidFill>
                  <a:latin typeface="Times New Roman" panose="02020603050405020304" charset="0"/>
                  <a:ea typeface="楷体" panose="02010609060101010101" charset="-122"/>
                  <a:cs typeface="Times New Roman" panose="02020603050405020304" charset="0"/>
                  <a:sym typeface="Kaiti SC"/>
                </a:rPr>
                <a:t> k </a:t>
              </a:r>
              <a:r>
                <a:rPr lang="en-US" sz="2400" b="0" i="0" u="none" strike="noStrike" dirty="0" err="1">
                  <a:solidFill>
                    <a:srgbClr val="505050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Kaiti SC"/>
                </a:rPr>
                <a:t>为潮汐强度参数，是本研究调控潮汐作用强弱的核心变量，直接决定了系统形变与演化的速率和幅度</a:t>
              </a:r>
              <a:r>
                <a:rPr lang="en-US" sz="2400" b="0" i="0" u="none" strike="noStrike" dirty="0">
                  <a:solidFill>
                    <a:srgbClr val="505050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  <a:sym typeface="Kaiti SC"/>
                </a:rPr>
                <a:t>。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B2BA6F4-65D8-B9AA-02BF-31F2B61864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755" y="4046433"/>
            <a:ext cx="4457170" cy="6412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40BD75-0496-5F85-D4A6-806E9978FE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8098" y="4125277"/>
            <a:ext cx="1438275" cy="5143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BD9126C-32A8-4059-40B8-2538ED2444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8725" y="4110989"/>
            <a:ext cx="1971675" cy="542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2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194310" y="800100"/>
            <a:ext cx="8318500" cy="508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12700" cap="flat" cmpd="sng">
            <a:solidFill>
              <a:srgbClr val="0C1A2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41300" y="1651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研究目标与核心结论</a:t>
            </a:r>
          </a:p>
        </p:txBody>
      </p:sp>
      <p:sp>
        <p:nvSpPr>
          <p:cNvPr id="14" name="Freeform 14"/>
          <p:cNvSpPr/>
          <p:nvPr>
            <p:custDataLst>
              <p:tags r:id="rId1"/>
            </p:custDataLst>
          </p:nvPr>
        </p:nvSpPr>
        <p:spPr>
          <a:xfrm>
            <a:off x="3674874" y="1057910"/>
            <a:ext cx="2467867" cy="5240594"/>
          </a:xfrm>
          <a:custGeom>
            <a:avLst/>
            <a:gdLst/>
            <a:ahLst/>
            <a:cxnLst/>
            <a:rect l="l" t="t" r="r" b="b"/>
            <a:pathLst>
              <a:path w="1980000" h="4204592">
                <a:moveTo>
                  <a:pt x="0" y="206021"/>
                </a:moveTo>
                <a:cubicBezTo>
                  <a:pt x="0" y="92239"/>
                  <a:pt x="88649" y="0"/>
                  <a:pt x="197999" y="0"/>
                </a:cubicBezTo>
                <a:lnTo>
                  <a:pt x="1782001" y="0"/>
                </a:lnTo>
                <a:cubicBezTo>
                  <a:pt x="1891353" y="0"/>
                  <a:pt x="1980000" y="92239"/>
                  <a:pt x="1980000" y="206021"/>
                </a:cubicBezTo>
                <a:lnTo>
                  <a:pt x="1980000" y="3998571"/>
                </a:lnTo>
                <a:cubicBezTo>
                  <a:pt x="1980000" y="4112353"/>
                  <a:pt x="1891353" y="4204592"/>
                  <a:pt x="1782001" y="4204592"/>
                </a:cubicBezTo>
                <a:lnTo>
                  <a:pt x="197999" y="4204592"/>
                </a:lnTo>
                <a:cubicBezTo>
                  <a:pt x="88649" y="4204592"/>
                  <a:pt x="0" y="4112353"/>
                  <a:pt x="0" y="3998571"/>
                </a:cubicBezTo>
                <a:lnTo>
                  <a:pt x="0" y="206021"/>
                </a:lnTo>
                <a:close/>
              </a:path>
            </a:pathLst>
          </a:cu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>
            <p:custDataLst>
              <p:tags r:id="rId2"/>
            </p:custDataLst>
          </p:nvPr>
        </p:nvSpPr>
        <p:spPr>
          <a:xfrm>
            <a:off x="4719605" y="1722739"/>
            <a:ext cx="395518" cy="576525"/>
          </a:xfrm>
          <a:custGeom>
            <a:avLst/>
            <a:gdLst/>
            <a:ahLst/>
            <a:cxnLst/>
            <a:rect l="l" t="t" r="r" b="b"/>
            <a:pathLst>
              <a:path w="317329" h="462553">
                <a:moveTo>
                  <a:pt x="226037" y="303564"/>
                </a:moveTo>
                <a:lnTo>
                  <a:pt x="91422" y="303564"/>
                </a:lnTo>
                <a:cubicBezTo>
                  <a:pt x="84239" y="287952"/>
                  <a:pt x="75615" y="272318"/>
                  <a:pt x="67109" y="257049"/>
                </a:cubicBezTo>
                <a:cubicBezTo>
                  <a:pt x="48289" y="223299"/>
                  <a:pt x="28839" y="188392"/>
                  <a:pt x="28839" y="159010"/>
                </a:cubicBezTo>
                <a:cubicBezTo>
                  <a:pt x="28839" y="87268"/>
                  <a:pt x="87074" y="28910"/>
                  <a:pt x="158664" y="28910"/>
                </a:cubicBezTo>
                <a:cubicBezTo>
                  <a:pt x="230240" y="28910"/>
                  <a:pt x="288474" y="87268"/>
                  <a:pt x="288474" y="159010"/>
                </a:cubicBezTo>
                <a:cubicBezTo>
                  <a:pt x="288474" y="188177"/>
                  <a:pt x="269024" y="223256"/>
                  <a:pt x="250175" y="257221"/>
                </a:cubicBezTo>
                <a:cubicBezTo>
                  <a:pt x="241742" y="272468"/>
                  <a:pt x="233192" y="288017"/>
                  <a:pt x="226037" y="303564"/>
                </a:cubicBezTo>
                <a:moveTo>
                  <a:pt x="158664" y="433642"/>
                </a:moveTo>
                <a:cubicBezTo>
                  <a:pt x="144046" y="433642"/>
                  <a:pt x="137317" y="431971"/>
                  <a:pt x="129855" y="415588"/>
                </a:cubicBezTo>
                <a:lnTo>
                  <a:pt x="190984" y="407921"/>
                </a:lnTo>
                <a:cubicBezTo>
                  <a:pt x="182141" y="431822"/>
                  <a:pt x="175691" y="433642"/>
                  <a:pt x="158664" y="433642"/>
                </a:cubicBezTo>
                <a:moveTo>
                  <a:pt x="111578" y="360058"/>
                </a:moveTo>
                <a:cubicBezTo>
                  <a:pt x="108963" y="351363"/>
                  <a:pt x="105997" y="342176"/>
                  <a:pt x="102706" y="332475"/>
                </a:cubicBezTo>
                <a:lnTo>
                  <a:pt x="214725" y="332475"/>
                </a:lnTo>
                <a:cubicBezTo>
                  <a:pt x="212962" y="337657"/>
                  <a:pt x="211184" y="342862"/>
                  <a:pt x="209643" y="347765"/>
                </a:cubicBezTo>
                <a:cubicBezTo>
                  <a:pt x="209643" y="347765"/>
                  <a:pt x="111578" y="360058"/>
                  <a:pt x="111578" y="360058"/>
                </a:cubicBezTo>
                <a:close/>
                <a:moveTo>
                  <a:pt x="196052" y="392824"/>
                </a:moveTo>
                <a:lnTo>
                  <a:pt x="124522" y="401798"/>
                </a:lnTo>
                <a:cubicBezTo>
                  <a:pt x="121980" y="394387"/>
                  <a:pt x="119233" y="385714"/>
                  <a:pt x="115913" y="374406"/>
                </a:cubicBezTo>
                <a:cubicBezTo>
                  <a:pt x="115868" y="374278"/>
                  <a:pt x="115810" y="374106"/>
                  <a:pt x="115781" y="373957"/>
                </a:cubicBezTo>
                <a:lnTo>
                  <a:pt x="205044" y="362800"/>
                </a:lnTo>
                <a:cubicBezTo>
                  <a:pt x="203780" y="367060"/>
                  <a:pt x="202414" y="371559"/>
                  <a:pt x="201239" y="375563"/>
                </a:cubicBezTo>
                <a:cubicBezTo>
                  <a:pt x="199344" y="382073"/>
                  <a:pt x="197640" y="387706"/>
                  <a:pt x="196052" y="392824"/>
                </a:cubicBezTo>
                <a:moveTo>
                  <a:pt x="158664" y="0"/>
                </a:moveTo>
                <a:cubicBezTo>
                  <a:pt x="71031" y="0"/>
                  <a:pt x="0" y="71185"/>
                  <a:pt x="0" y="159010"/>
                </a:cubicBezTo>
                <a:cubicBezTo>
                  <a:pt x="0" y="217282"/>
                  <a:pt x="53196" y="279022"/>
                  <a:pt x="72559" y="333267"/>
                </a:cubicBezTo>
                <a:cubicBezTo>
                  <a:pt x="101456" y="414153"/>
                  <a:pt x="98254" y="462553"/>
                  <a:pt x="158664" y="462553"/>
                </a:cubicBezTo>
                <a:cubicBezTo>
                  <a:pt x="219955" y="462553"/>
                  <a:pt x="215842" y="414368"/>
                  <a:pt x="244754" y="333588"/>
                </a:cubicBezTo>
                <a:cubicBezTo>
                  <a:pt x="264190" y="279236"/>
                  <a:pt x="317329" y="216811"/>
                  <a:pt x="317329" y="159010"/>
                </a:cubicBezTo>
                <a:cubicBezTo>
                  <a:pt x="317329" y="71185"/>
                  <a:pt x="246282" y="0"/>
                  <a:pt x="158664" y="0"/>
                </a:cubicBezTo>
              </a:path>
            </a:pathLst>
          </a:cu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>
            <p:custDataLst>
              <p:tags r:id="rId3"/>
            </p:custDataLst>
          </p:nvPr>
        </p:nvSpPr>
        <p:spPr>
          <a:xfrm>
            <a:off x="4814580" y="1817714"/>
            <a:ext cx="117082" cy="117082"/>
          </a:xfrm>
          <a:custGeom>
            <a:avLst/>
            <a:gdLst/>
            <a:ahLst/>
            <a:cxnLst/>
            <a:rect l="l" t="t" r="r" b="b"/>
            <a:pathLst>
              <a:path w="93936" h="93936">
                <a:moveTo>
                  <a:pt x="86707" y="0"/>
                </a:moveTo>
                <a:cubicBezTo>
                  <a:pt x="38891" y="0"/>
                  <a:pt x="0" y="38887"/>
                  <a:pt x="0" y="86708"/>
                </a:cubicBezTo>
                <a:cubicBezTo>
                  <a:pt x="0" y="90696"/>
                  <a:pt x="3231" y="93936"/>
                  <a:pt x="7224" y="93936"/>
                </a:cubicBezTo>
                <a:cubicBezTo>
                  <a:pt x="11215" y="93936"/>
                  <a:pt x="14451" y="90696"/>
                  <a:pt x="14451" y="86708"/>
                </a:cubicBezTo>
                <a:cubicBezTo>
                  <a:pt x="14451" y="46868"/>
                  <a:pt x="46868" y="14451"/>
                  <a:pt x="86707" y="14451"/>
                </a:cubicBezTo>
                <a:cubicBezTo>
                  <a:pt x="90700" y="14451"/>
                  <a:pt x="93936" y="11212"/>
                  <a:pt x="93936" y="7224"/>
                </a:cubicBezTo>
                <a:cubicBezTo>
                  <a:pt x="93936" y="3236"/>
                  <a:pt x="90700" y="0"/>
                  <a:pt x="86707" y="0"/>
                </a:cubicBezTo>
              </a:path>
            </a:pathLst>
          </a:cu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r:id="rId4"/>
            </p:custDataLst>
          </p:nvPr>
        </p:nvSpPr>
        <p:spPr>
          <a:xfrm>
            <a:off x="3754120" y="2464435"/>
            <a:ext cx="2310765" cy="40862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/>
                <a:sym typeface="Times New Roman" panose="02020603050405020304"/>
              </a:rPr>
              <a:t>系统研究潮汐强度对星团结构演化的驱动机制，明确其是决定星团恒星逃逸、质量损失速率的核心关键因素。</a:t>
            </a:r>
          </a:p>
        </p:txBody>
      </p:sp>
      <p:sp>
        <p:nvSpPr>
          <p:cNvPr id="19" name="AutoShape 19"/>
          <p:cNvSpPr/>
          <p:nvPr>
            <p:custDataLst>
              <p:tags r:id="rId5"/>
            </p:custDataLst>
          </p:nvPr>
        </p:nvSpPr>
        <p:spPr>
          <a:xfrm>
            <a:off x="3754020" y="1341305"/>
            <a:ext cx="2311071" cy="633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探索：潮汐的主导性</a:t>
            </a:r>
          </a:p>
        </p:txBody>
      </p:sp>
      <p:sp>
        <p:nvSpPr>
          <p:cNvPr id="20" name="AutoShape 20"/>
          <p:cNvSpPr/>
          <p:nvPr>
            <p:custDataLst>
              <p:tags r:id="rId6"/>
            </p:custDataLst>
          </p:nvPr>
        </p:nvSpPr>
        <p:spPr>
          <a:xfrm>
            <a:off x="4228263" y="2235826"/>
            <a:ext cx="1392974" cy="63317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>
            <p:custDataLst>
              <p:tags r:id="rId7"/>
            </p:custDataLst>
          </p:nvPr>
        </p:nvSpPr>
        <p:spPr>
          <a:xfrm>
            <a:off x="873097" y="1057910"/>
            <a:ext cx="2467867" cy="5240595"/>
          </a:xfrm>
          <a:custGeom>
            <a:avLst/>
            <a:gdLst/>
            <a:ahLst/>
            <a:cxnLst/>
            <a:rect l="l" t="t" r="r" b="b"/>
            <a:pathLst>
              <a:path w="1980000" h="4204593">
                <a:moveTo>
                  <a:pt x="0" y="206021"/>
                </a:moveTo>
                <a:cubicBezTo>
                  <a:pt x="0" y="92239"/>
                  <a:pt x="88649" y="0"/>
                  <a:pt x="197999" y="0"/>
                </a:cubicBezTo>
                <a:lnTo>
                  <a:pt x="1782000" y="0"/>
                </a:lnTo>
                <a:cubicBezTo>
                  <a:pt x="1891353" y="0"/>
                  <a:pt x="1980000" y="92239"/>
                  <a:pt x="1980000" y="206021"/>
                </a:cubicBezTo>
                <a:lnTo>
                  <a:pt x="1980000" y="3998572"/>
                </a:lnTo>
                <a:cubicBezTo>
                  <a:pt x="1980000" y="4112354"/>
                  <a:pt x="1891353" y="4204593"/>
                  <a:pt x="1782000" y="4204593"/>
                </a:cubicBezTo>
                <a:lnTo>
                  <a:pt x="197999" y="4204593"/>
                </a:lnTo>
                <a:cubicBezTo>
                  <a:pt x="88649" y="4204593"/>
                  <a:pt x="0" y="4112354"/>
                  <a:pt x="0" y="3998572"/>
                </a:cubicBezTo>
                <a:lnTo>
                  <a:pt x="0" y="206021"/>
                </a:lnTo>
                <a:close/>
              </a:path>
            </a:pathLst>
          </a:custGeom>
          <a:noFill/>
          <a:ln w="12700" cap="flat" cmpd="sng">
            <a:solidFill>
              <a:srgbClr val="2C4A70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>
            <p:custDataLst>
              <p:tags r:id="rId8"/>
            </p:custDataLst>
          </p:nvPr>
        </p:nvSpPr>
        <p:spPr>
          <a:xfrm>
            <a:off x="952500" y="2464435"/>
            <a:ext cx="2310765" cy="40862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Times New Roman" panose="02020603050405020304"/>
              </a:rPr>
              <a:t>比较不同数值积分算法的长期稳定性，重点验证能量守恒特性，同时结合</a:t>
            </a:r>
            <a:r>
              <a:rPr lang="en-US" sz="2400" b="0" i="0" u="none" strike="noStrike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 Gaia </a:t>
            </a:r>
            <a:r>
              <a:rPr lang="en-US" sz="24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Times New Roman" panose="02020603050405020304"/>
              </a:rPr>
              <a:t>真实天文观测数据校准模拟参数。</a:t>
            </a:r>
          </a:p>
        </p:txBody>
      </p:sp>
      <p:sp>
        <p:nvSpPr>
          <p:cNvPr id="25" name="Freeform 25"/>
          <p:cNvSpPr/>
          <p:nvPr>
            <p:custDataLst>
              <p:tags r:id="rId9"/>
            </p:custDataLst>
          </p:nvPr>
        </p:nvSpPr>
        <p:spPr>
          <a:xfrm>
            <a:off x="1917827" y="1849373"/>
            <a:ext cx="83949" cy="83952"/>
          </a:xfrm>
          <a:custGeom>
            <a:avLst/>
            <a:gdLst/>
            <a:ahLst/>
            <a:cxnLst/>
            <a:rect l="l" t="t" r="r" b="b"/>
            <a:pathLst>
              <a:path w="67353" h="67356">
                <a:moveTo>
                  <a:pt x="60265" y="0"/>
                </a:moveTo>
                <a:cubicBezTo>
                  <a:pt x="60237" y="0"/>
                  <a:pt x="60237" y="13"/>
                  <a:pt x="60208" y="13"/>
                </a:cubicBezTo>
                <a:cubicBezTo>
                  <a:pt x="26952" y="41"/>
                  <a:pt x="0" y="27001"/>
                  <a:pt x="0" y="60265"/>
                </a:cubicBezTo>
                <a:cubicBezTo>
                  <a:pt x="0" y="64176"/>
                  <a:pt x="3178" y="67356"/>
                  <a:pt x="7088" y="67356"/>
                </a:cubicBezTo>
                <a:cubicBezTo>
                  <a:pt x="11002" y="67356"/>
                  <a:pt x="14180" y="64176"/>
                  <a:pt x="14180" y="60265"/>
                </a:cubicBezTo>
                <a:lnTo>
                  <a:pt x="14180" y="60249"/>
                </a:lnTo>
                <a:cubicBezTo>
                  <a:pt x="14180" y="34813"/>
                  <a:pt x="34813" y="14180"/>
                  <a:pt x="60249" y="14180"/>
                </a:cubicBezTo>
                <a:lnTo>
                  <a:pt x="60265" y="14180"/>
                </a:lnTo>
                <a:cubicBezTo>
                  <a:pt x="64176" y="14180"/>
                  <a:pt x="67353" y="11002"/>
                  <a:pt x="67353" y="7088"/>
                </a:cubicBezTo>
                <a:cubicBezTo>
                  <a:pt x="67353" y="3178"/>
                  <a:pt x="64176" y="0"/>
                  <a:pt x="60265" y="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>
            <p:custDataLst>
              <p:tags r:id="rId10"/>
            </p:custDataLst>
          </p:nvPr>
        </p:nvSpPr>
        <p:spPr>
          <a:xfrm>
            <a:off x="952243" y="1341305"/>
            <a:ext cx="2311071" cy="633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目标：算法与观测校准</a:t>
            </a:r>
          </a:p>
        </p:txBody>
      </p:sp>
      <p:sp>
        <p:nvSpPr>
          <p:cNvPr id="27" name="AutoShape 27"/>
          <p:cNvSpPr/>
          <p:nvPr>
            <p:custDataLst>
              <p:tags r:id="rId11"/>
            </p:custDataLst>
          </p:nvPr>
        </p:nvSpPr>
        <p:spPr>
          <a:xfrm>
            <a:off x="1411291" y="2235826"/>
            <a:ext cx="1392974" cy="63317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>
            <p:custDataLst>
              <p:tags r:id="rId12"/>
            </p:custDataLst>
          </p:nvPr>
        </p:nvSpPr>
        <p:spPr>
          <a:xfrm>
            <a:off x="9310087" y="1057910"/>
            <a:ext cx="2467867" cy="5240594"/>
          </a:xfrm>
          <a:custGeom>
            <a:avLst/>
            <a:gdLst/>
            <a:ahLst/>
            <a:cxnLst/>
            <a:rect l="l" t="t" r="r" b="b"/>
            <a:pathLst>
              <a:path w="1980000" h="4204592">
                <a:moveTo>
                  <a:pt x="0" y="206021"/>
                </a:moveTo>
                <a:cubicBezTo>
                  <a:pt x="0" y="92239"/>
                  <a:pt x="88649" y="0"/>
                  <a:pt x="197999" y="0"/>
                </a:cubicBezTo>
                <a:lnTo>
                  <a:pt x="1782000" y="0"/>
                </a:lnTo>
                <a:cubicBezTo>
                  <a:pt x="1891353" y="0"/>
                  <a:pt x="1980000" y="92239"/>
                  <a:pt x="1980000" y="206021"/>
                </a:cubicBezTo>
                <a:lnTo>
                  <a:pt x="1980000" y="3998571"/>
                </a:lnTo>
                <a:cubicBezTo>
                  <a:pt x="1980000" y="4112353"/>
                  <a:pt x="1891353" y="4204592"/>
                  <a:pt x="1782000" y="4204592"/>
                </a:cubicBezTo>
                <a:lnTo>
                  <a:pt x="197999" y="4204592"/>
                </a:lnTo>
                <a:cubicBezTo>
                  <a:pt x="88649" y="4204592"/>
                  <a:pt x="0" y="4112353"/>
                  <a:pt x="0" y="3998571"/>
                </a:cubicBezTo>
                <a:lnTo>
                  <a:pt x="0" y="206021"/>
                </a:lnTo>
                <a:close/>
              </a:path>
            </a:pathLst>
          </a:cu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39700" dist="101600" dir="5400000" algn="t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>
            <p:custDataLst>
              <p:tags r:id="rId13"/>
            </p:custDataLst>
          </p:nvPr>
        </p:nvSpPr>
        <p:spPr>
          <a:xfrm>
            <a:off x="9452610" y="2465070"/>
            <a:ext cx="2310765" cy="40855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/>
                <a:sym typeface="Times New Roman" panose="02020603050405020304"/>
              </a:rPr>
              <a:t>潮汐尾形态的不对称性对初始条件具有极高敏感性，呈现显著随机特性，单次模拟结果需结合统计分析谨慎解读。</a:t>
            </a:r>
          </a:p>
        </p:txBody>
      </p:sp>
      <p:sp>
        <p:nvSpPr>
          <p:cNvPr id="30" name="AutoShape 30"/>
          <p:cNvSpPr/>
          <p:nvPr>
            <p:custDataLst>
              <p:tags r:id="rId14"/>
            </p:custDataLst>
          </p:nvPr>
        </p:nvSpPr>
        <p:spPr>
          <a:xfrm>
            <a:off x="9389685" y="1341305"/>
            <a:ext cx="2311071" cy="633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发现：形态的随机特性</a:t>
            </a:r>
          </a:p>
        </p:txBody>
      </p:sp>
      <p:sp>
        <p:nvSpPr>
          <p:cNvPr id="31" name="AutoShape 31"/>
          <p:cNvSpPr/>
          <p:nvPr>
            <p:custDataLst>
              <p:tags r:id="rId15"/>
            </p:custDataLst>
          </p:nvPr>
        </p:nvSpPr>
        <p:spPr>
          <a:xfrm>
            <a:off x="9848282" y="2235826"/>
            <a:ext cx="1392974" cy="63317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>
            <p:custDataLst>
              <p:tags r:id="rId16"/>
            </p:custDataLst>
          </p:nvPr>
        </p:nvSpPr>
        <p:spPr>
          <a:xfrm>
            <a:off x="6444993" y="1057910"/>
            <a:ext cx="2467867" cy="5240595"/>
          </a:xfrm>
          <a:custGeom>
            <a:avLst/>
            <a:gdLst/>
            <a:ahLst/>
            <a:cxnLst/>
            <a:rect l="l" t="t" r="r" b="b"/>
            <a:pathLst>
              <a:path w="1980000" h="4204593">
                <a:moveTo>
                  <a:pt x="0" y="206021"/>
                </a:moveTo>
                <a:cubicBezTo>
                  <a:pt x="0" y="92239"/>
                  <a:pt x="88649" y="0"/>
                  <a:pt x="197999" y="0"/>
                </a:cubicBezTo>
                <a:lnTo>
                  <a:pt x="1782000" y="0"/>
                </a:lnTo>
                <a:cubicBezTo>
                  <a:pt x="1891353" y="0"/>
                  <a:pt x="1980000" y="92239"/>
                  <a:pt x="1980000" y="206021"/>
                </a:cubicBezTo>
                <a:lnTo>
                  <a:pt x="1980000" y="3998572"/>
                </a:lnTo>
                <a:cubicBezTo>
                  <a:pt x="1980000" y="4112354"/>
                  <a:pt x="1891353" y="4204593"/>
                  <a:pt x="1782000" y="4204593"/>
                </a:cubicBezTo>
                <a:lnTo>
                  <a:pt x="197999" y="4204593"/>
                </a:lnTo>
                <a:cubicBezTo>
                  <a:pt x="88649" y="4204593"/>
                  <a:pt x="0" y="4112354"/>
                  <a:pt x="0" y="3998572"/>
                </a:cubicBezTo>
                <a:lnTo>
                  <a:pt x="0" y="206021"/>
                </a:lnTo>
                <a:close/>
              </a:path>
            </a:pathLst>
          </a:custGeom>
          <a:noFill/>
          <a:ln w="12700" cap="flat" cmpd="sng">
            <a:solidFill>
              <a:srgbClr val="2C4A70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>
            <p:custDataLst>
              <p:tags r:id="rId17"/>
            </p:custDataLst>
          </p:nvPr>
        </p:nvSpPr>
        <p:spPr>
          <a:xfrm>
            <a:off x="6603365" y="2465070"/>
            <a:ext cx="2310765" cy="40855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Velocity Verlet </a:t>
            </a:r>
            <a:r>
              <a:rPr lang="en-US" sz="24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Times New Roman" panose="02020603050405020304"/>
              </a:rPr>
              <a:t>辛积分算法表现卓越，其能量误差始终保持有界振荡状态，有效避免了长期演化中的数值漂移问题。</a:t>
            </a:r>
          </a:p>
        </p:txBody>
      </p:sp>
      <p:sp>
        <p:nvSpPr>
          <p:cNvPr id="34" name="AutoShape 34"/>
          <p:cNvSpPr/>
          <p:nvPr>
            <p:custDataLst>
              <p:tags r:id="rId18"/>
            </p:custDataLst>
          </p:nvPr>
        </p:nvSpPr>
        <p:spPr>
          <a:xfrm>
            <a:off x="6554390" y="1341305"/>
            <a:ext cx="2311071" cy="6331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结论：辛积分的优势</a:t>
            </a:r>
          </a:p>
        </p:txBody>
      </p:sp>
      <p:sp>
        <p:nvSpPr>
          <p:cNvPr id="35" name="AutoShape 35"/>
          <p:cNvSpPr/>
          <p:nvPr>
            <p:custDataLst>
              <p:tags r:id="rId19"/>
            </p:custDataLst>
          </p:nvPr>
        </p:nvSpPr>
        <p:spPr>
          <a:xfrm>
            <a:off x="6946220" y="2235826"/>
            <a:ext cx="1392974" cy="63317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221615" y="795020"/>
            <a:ext cx="8382000" cy="508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12700" cap="flat" cmpd="sng">
            <a:solidFill>
              <a:srgbClr val="0C1A2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221615" y="165100"/>
            <a:ext cx="838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Kaiti SC"/>
                <a:cs typeface="Times New Roman" panose="02020603050405020304" charset="0"/>
                <a:sym typeface="Kaiti SC"/>
              </a:rPr>
              <a:t>连接真实观测：</a:t>
            </a: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Gaia DR3 </a:t>
            </a: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Kaiti SC"/>
                <a:cs typeface="Times New Roman" panose="02020603050405020304" charset="0"/>
                <a:sym typeface="Kaiti SC"/>
              </a:rPr>
              <a:t>数据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806055" y="913130"/>
            <a:ext cx="3199130" cy="2818765"/>
          </a:xfrm>
          <a:prstGeom prst="roundRect">
            <a:avLst>
              <a:gd name="adj" fmla="val 0"/>
            </a:avLst>
          </a:prstGeom>
          <a:solidFill>
            <a:srgbClr val="F2F6FA">
              <a:alpha val="100000"/>
            </a:srgbClr>
          </a:solidFill>
          <a:ln w="12700" cap="flat" cmpd="sng">
            <a:solidFill>
              <a:srgbClr val="2C4A70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804785" y="913130"/>
            <a:ext cx="3200400" cy="281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研究核心逻辑：</a:t>
            </a:r>
            <a:endParaRPr 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20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利用欧空局 </a:t>
            </a: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Gaia</a:t>
            </a:r>
            <a:r>
              <a:rPr lang="en-US" sz="20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Times New Roman" panose="02020603050405020304"/>
              </a:rPr>
              <a:t> </a:t>
            </a:r>
            <a:r>
              <a:rPr lang="en-US" sz="20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卫星</a:t>
            </a: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DR3 </a:t>
            </a:r>
            <a:r>
              <a:rPr lang="en-US" sz="20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高精度天体测量数据，筛选疏散星团 </a:t>
            </a:r>
            <a:r>
              <a:rPr lang="en-US" sz="2000" b="0" i="0" u="none" strike="noStrike">
                <a:solidFill>
                  <a:srgbClr val="1F2329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Coma Berenices </a:t>
            </a:r>
            <a:r>
              <a:rPr lang="en-US" sz="2000" b="0" i="0" u="none" strike="noStrike">
                <a:solidFill>
                  <a:srgbClr val="1F2329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候选成员，通过多维度观测特征分析，验证简化数值模型对真实星团宏观演化的再现能力。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53427" y="4246245"/>
            <a:ext cx="2667000" cy="63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99B5D7">
                  <a:alpha val="80000"/>
                </a:srgbClr>
              </a:gs>
              <a:gs pos="100000">
                <a:srgbClr val="213854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空间分布特征</a:t>
            </a:r>
            <a:endParaRPr lang="en-US" sz="2400" b="1" i="0" u="none" strike="noStrike" dirty="0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Kaiti SC"/>
              <a:sym typeface="Kaiti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598987" y="4248393"/>
            <a:ext cx="2667000" cy="63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99B5D7">
                  <a:alpha val="80000"/>
                </a:srgbClr>
              </a:gs>
              <a:gs pos="100000">
                <a:srgbClr val="213854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颜色星等图验证</a:t>
            </a:r>
            <a:endParaRPr lang="en-US" sz="2400" b="1" i="0" u="none" strike="noStrike" dirty="0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Kaiti SC"/>
              <a:sym typeface="Kaiti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159750" y="4235450"/>
            <a:ext cx="2540000" cy="64579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99B5D7">
                  <a:alpha val="80000"/>
                </a:srgbClr>
              </a:gs>
              <a:gs pos="100000">
                <a:srgbClr val="213854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模型有效性结论</a:t>
            </a:r>
            <a:endParaRPr lang="en-US" sz="2400" b="1" i="0" u="none" strike="noStrike" dirty="0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Kaiti SC"/>
              <a:sym typeface="Kaiti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272415" y="4962525"/>
            <a:ext cx="3602355" cy="2200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0" i="0" u="none" strike="noStrike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呈中心密集、外围稀疏并向外延展的分布趋势，恒星密度随半径增加而递减，该观测结果与我们的数值模拟在定性上高度一致</a:t>
            </a:r>
            <a:r>
              <a:rPr lang="en-US" sz="2000" b="0" i="0" u="none" strike="noStrike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4244975" y="5047474"/>
            <a:ext cx="3375025" cy="22059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0" i="0" u="none" strike="noStrike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呈现出清晰、连续的主序带结构，有力证明了筛选出的候选</a:t>
            </a:r>
            <a:r>
              <a:rPr lang="zh-CN" altLang="en-US" sz="2000" b="0" i="0" u="none" strike="noStrike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成员</a:t>
            </a:r>
            <a:r>
              <a:rPr lang="en-US" sz="2000" b="0" i="0" u="none" strike="noStrike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星具有相近的年龄和距离，确为物理关联系统</a:t>
            </a:r>
            <a:r>
              <a:rPr lang="en-US" sz="2000" b="0" i="0" u="none" strike="noStrike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990205" y="5047474"/>
            <a:ext cx="3199765" cy="22059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0" i="0" u="none" strike="noStrike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综合分析，我们的模型能够成功再现真实疏散星团的核心宏观特征，为后续建模提供了可靠的物理基础</a:t>
            </a:r>
            <a:r>
              <a:rPr lang="en-US" sz="2000" b="0" i="0" u="none" strike="noStrike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6207CA-4BDE-0D20-9041-EE8CA350D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15" y="913130"/>
            <a:ext cx="3433962" cy="32316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588E1FA-DA48-5476-6ABB-E33B33334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2615" y="1053097"/>
            <a:ext cx="2519558" cy="2965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178175" y="2045970"/>
            <a:ext cx="4737100" cy="1128395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93725" y="1524000"/>
            <a:ext cx="29464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000" b="1" i="0" u="none" strike="noStrike">
                <a:solidFill>
                  <a:srgbClr val="2C4A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489325" y="2045970"/>
            <a:ext cx="4114800" cy="11296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核心算法与模拟实现</a:t>
            </a:r>
          </a:p>
          <a:p>
            <a:pPr marL="0" indent="0" algn="l">
              <a:lnSpc>
                <a:spcPct val="100000"/>
              </a:lnSpc>
              <a:defRPr/>
            </a:pPr>
            <a:endParaRPr lang="en-US" sz="1200">
              <a:latin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chemeClr val="bg1">
                    <a:alpha val="90196"/>
                  </a:schemeClr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主讲：刘子寒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235325" y="3505200"/>
            <a:ext cx="7140575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76200" rIns="88900" bIns="76200" rtlCol="0" anchor="t" anchorCtr="0"/>
          <a:lstStyle>
            <a:lvl1pPr marL="596900" indent="-304800"/>
            <a:lvl2pPr marL="1054100" indent="-304800"/>
            <a:lvl3pPr marL="1511300" indent="-304800"/>
            <a:lvl4pPr marL="1968500" indent="-304800"/>
            <a:lvl5pPr marL="2425700" indent="-304800"/>
            <a:lvl6pPr marL="2882900" indent="-304800"/>
            <a:lvl7pPr marL="3340100" indent="-304800"/>
            <a:lvl8pPr marL="3797300" indent="-304800"/>
            <a:lvl9pPr marL="4254500" indent="-304800"/>
          </a:lstStyle>
          <a:p>
            <a:pPr marL="292100" indent="-279400" algn="l">
              <a:lnSpc>
                <a:spcPct val="108000"/>
              </a:lnSpc>
              <a:buClr>
                <a:srgbClr val="2C4A70"/>
              </a:buClr>
              <a:buFont typeface="Arial" panose="020B0604020202020204"/>
              <a:buChar char="•"/>
              <a:defRPr/>
            </a:pPr>
            <a:r>
              <a:rPr lang="en-US" sz="24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算法原理：</a:t>
            </a:r>
            <a:r>
              <a:rPr lang="en-US" sz="2000" b="0" i="0" u="none" strike="noStrike">
                <a:solidFill>
                  <a:srgbClr val="32323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Times New Roman" panose="02020603050405020304"/>
              </a:rPr>
              <a:t>采用 </a:t>
            </a:r>
            <a:r>
              <a:rPr lang="en-US" sz="2000" b="0" i="0" u="none" strike="noStrike">
                <a:solidFill>
                  <a:srgbClr val="32323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Velocity Verlet</a:t>
            </a:r>
            <a:r>
              <a:rPr lang="en-US" sz="2000" b="0" i="0" u="none" strike="noStrike">
                <a:solidFill>
                  <a:srgbClr val="32323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Times New Roman" panose="02020603050405020304"/>
              </a:rPr>
              <a:t> 辛积分算法保障守恒性</a:t>
            </a:r>
            <a:r>
              <a:rPr lang="zh-CN" altLang="en-US" sz="2000" b="0" i="0" u="none" strike="noStrike">
                <a:solidFill>
                  <a:srgbClr val="32323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Times New Roman" panose="02020603050405020304"/>
              </a:rPr>
              <a:t>。</a:t>
            </a:r>
            <a:endParaRPr lang="en-US" sz="1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92100" indent="-279400" algn="l">
              <a:lnSpc>
                <a:spcPct val="108000"/>
              </a:lnSpc>
              <a:buClr>
                <a:srgbClr val="2C4A70"/>
              </a:buClr>
              <a:buFont typeface="Arial" panose="020B0604020202020204"/>
              <a:buChar char="•"/>
            </a:pPr>
            <a:r>
              <a:rPr lang="en-US" sz="24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离散化过程：</a:t>
            </a:r>
            <a:r>
              <a:rPr lang="en-US" sz="2000" b="0" i="0" u="none" strike="noStrike">
                <a:solidFill>
                  <a:srgbClr val="32323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完成力计算、速度更新与位置推进三步循环</a:t>
            </a:r>
            <a:r>
              <a:rPr lang="zh-CN" altLang="en-US" sz="2000" b="0" i="0" u="none" strike="noStrike">
                <a:solidFill>
                  <a:srgbClr val="32323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  <a:endParaRPr lang="en-US" sz="2000" b="0" i="0" u="none" strike="noStrike">
              <a:solidFill>
                <a:srgbClr val="323232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Kaiti SC"/>
            </a:endParaRPr>
          </a:p>
          <a:p>
            <a:pPr marL="292100" indent="-279400" algn="l">
              <a:lnSpc>
                <a:spcPct val="108000"/>
              </a:lnSpc>
              <a:buClr>
                <a:srgbClr val="2C4A70"/>
              </a:buClr>
              <a:buFont typeface="Arial" panose="020B0604020202020204"/>
              <a:buChar char="•"/>
            </a:pPr>
            <a:r>
              <a:rPr lang="en-US" sz="2400" b="1" i="0" u="none" strike="noStrike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稳定性测试：</a:t>
            </a:r>
            <a:r>
              <a:rPr lang="en-US" sz="2000" b="0" i="0" u="none" strike="noStrike">
                <a:solidFill>
                  <a:srgbClr val="32323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对比长时间演化下的系统能量误差累积情况</a:t>
            </a:r>
            <a:r>
              <a:rPr lang="zh-CN" altLang="en-US" sz="2000" b="0" i="0" u="none" strike="noStrike">
                <a:solidFill>
                  <a:srgbClr val="32323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</a:p>
        </p:txBody>
      </p:sp>
      <p:sp>
        <p:nvSpPr>
          <p:cNvPr id="15" name="AutoShape 15"/>
          <p:cNvSpPr/>
          <p:nvPr/>
        </p:nvSpPr>
        <p:spPr>
          <a:xfrm rot="10800000" flipV="1">
            <a:off x="10871200" y="6121400"/>
            <a:ext cx="7874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 flipV="1">
            <a:off x="10375900" y="6299200"/>
            <a:ext cx="12827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 rot="10800000" flipV="1">
            <a:off x="11112500" y="6477000"/>
            <a:ext cx="5461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8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203200" y="685800"/>
            <a:ext cx="8318500" cy="508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12700" cap="flat" cmpd="sng">
            <a:solidFill>
              <a:srgbClr val="0C1A2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03200" y="165100"/>
            <a:ext cx="6350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 dirty="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Velocity Verlet 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辛积分算法</a:t>
            </a:r>
            <a:endParaRPr lang="en-US" sz="11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Freeform 23"/>
          <p:cNvSpPr/>
          <p:nvPr>
            <p:custDataLst>
              <p:tags r:id="rId1"/>
            </p:custDataLst>
          </p:nvPr>
        </p:nvSpPr>
        <p:spPr>
          <a:xfrm>
            <a:off x="2680007" y="911225"/>
            <a:ext cx="561890" cy="559389"/>
          </a:xfrm>
          <a:custGeom>
            <a:avLst/>
            <a:gdLst/>
            <a:ahLst/>
            <a:cxnLst/>
            <a:rect l="l" t="t" r="r" b="b"/>
            <a:pathLst>
              <a:path w="450035" h="448032">
                <a:moveTo>
                  <a:pt x="421886" y="392046"/>
                </a:moveTo>
                <a:cubicBezTo>
                  <a:pt x="421886" y="407459"/>
                  <a:pt x="409282" y="420028"/>
                  <a:pt x="393760" y="420028"/>
                </a:cubicBezTo>
                <a:lnTo>
                  <a:pt x="56233" y="420028"/>
                </a:lnTo>
                <a:cubicBezTo>
                  <a:pt x="40733" y="420028"/>
                  <a:pt x="28106" y="407459"/>
                  <a:pt x="28106" y="392046"/>
                </a:cubicBezTo>
                <a:lnTo>
                  <a:pt x="28106" y="112013"/>
                </a:lnTo>
                <a:cubicBezTo>
                  <a:pt x="28106" y="104276"/>
                  <a:pt x="34420" y="98011"/>
                  <a:pt x="42170" y="98011"/>
                </a:cubicBezTo>
                <a:lnTo>
                  <a:pt x="56233" y="98011"/>
                </a:lnTo>
                <a:lnTo>
                  <a:pt x="56233" y="378045"/>
                </a:lnTo>
                <a:cubicBezTo>
                  <a:pt x="56233" y="385782"/>
                  <a:pt x="62526" y="392046"/>
                  <a:pt x="70297" y="392046"/>
                </a:cubicBezTo>
                <a:cubicBezTo>
                  <a:pt x="78090" y="392046"/>
                  <a:pt x="84361" y="385782"/>
                  <a:pt x="84361" y="378045"/>
                </a:cubicBezTo>
                <a:lnTo>
                  <a:pt x="84361" y="42005"/>
                </a:lnTo>
                <a:cubicBezTo>
                  <a:pt x="84361" y="34267"/>
                  <a:pt x="90674" y="28004"/>
                  <a:pt x="98424" y="28004"/>
                </a:cubicBezTo>
                <a:lnTo>
                  <a:pt x="407844" y="28004"/>
                </a:lnTo>
                <a:cubicBezTo>
                  <a:pt x="415595" y="28004"/>
                  <a:pt x="421886" y="34267"/>
                  <a:pt x="421886" y="42005"/>
                </a:cubicBezTo>
                <a:cubicBezTo>
                  <a:pt x="421886" y="42005"/>
                  <a:pt x="421886" y="392046"/>
                  <a:pt x="421886" y="392046"/>
                </a:cubicBezTo>
                <a:close/>
                <a:moveTo>
                  <a:pt x="407844" y="0"/>
                </a:moveTo>
                <a:lnTo>
                  <a:pt x="98424" y="0"/>
                </a:lnTo>
                <a:cubicBezTo>
                  <a:pt x="75131" y="0"/>
                  <a:pt x="56233" y="18773"/>
                  <a:pt x="56233" y="42005"/>
                </a:cubicBezTo>
                <a:lnTo>
                  <a:pt x="56233" y="70009"/>
                </a:lnTo>
                <a:lnTo>
                  <a:pt x="42170" y="70009"/>
                </a:lnTo>
                <a:cubicBezTo>
                  <a:pt x="18876" y="70009"/>
                  <a:pt x="0" y="88781"/>
                  <a:pt x="0" y="112013"/>
                </a:cubicBezTo>
                <a:lnTo>
                  <a:pt x="0" y="392046"/>
                </a:lnTo>
                <a:cubicBezTo>
                  <a:pt x="0" y="422975"/>
                  <a:pt x="25169" y="448032"/>
                  <a:pt x="56233" y="448032"/>
                </a:cubicBezTo>
                <a:lnTo>
                  <a:pt x="393760" y="448032"/>
                </a:lnTo>
                <a:cubicBezTo>
                  <a:pt x="424845" y="448032"/>
                  <a:pt x="450035" y="422975"/>
                  <a:pt x="450035" y="392046"/>
                </a:cubicBezTo>
                <a:lnTo>
                  <a:pt x="450035" y="42005"/>
                </a:lnTo>
                <a:cubicBezTo>
                  <a:pt x="450035" y="18773"/>
                  <a:pt x="431138" y="0"/>
                  <a:pt x="407844" y="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>
            <p:custDataLst>
              <p:tags r:id="rId2"/>
            </p:custDataLst>
          </p:nvPr>
        </p:nvSpPr>
        <p:spPr>
          <a:xfrm>
            <a:off x="3012995" y="1117360"/>
            <a:ext cx="155942" cy="17325"/>
          </a:xfrm>
          <a:custGeom>
            <a:avLst/>
            <a:gdLst/>
            <a:ahLst/>
            <a:cxnLst/>
            <a:rect l="l" t="t" r="r" b="b"/>
            <a:pathLst>
              <a:path w="124899" h="13876">
                <a:moveTo>
                  <a:pt x="6939" y="13876"/>
                </a:moveTo>
                <a:lnTo>
                  <a:pt x="117961" y="13876"/>
                </a:lnTo>
                <a:cubicBezTo>
                  <a:pt x="121789" y="13876"/>
                  <a:pt x="124899" y="10759"/>
                  <a:pt x="124899" y="6938"/>
                </a:cubicBezTo>
                <a:cubicBezTo>
                  <a:pt x="124899" y="3103"/>
                  <a:pt x="121789" y="0"/>
                  <a:pt x="117961" y="0"/>
                </a:cubicBezTo>
                <a:lnTo>
                  <a:pt x="6939" y="0"/>
                </a:lnTo>
                <a:cubicBezTo>
                  <a:pt x="3105" y="0"/>
                  <a:pt x="0" y="3103"/>
                  <a:pt x="0" y="6938"/>
                </a:cubicBezTo>
                <a:cubicBezTo>
                  <a:pt x="0" y="10759"/>
                  <a:pt x="3105" y="13876"/>
                  <a:pt x="6939" y="13876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Freeform 25"/>
          <p:cNvSpPr/>
          <p:nvPr>
            <p:custDataLst>
              <p:tags r:id="rId3"/>
            </p:custDataLst>
          </p:nvPr>
        </p:nvSpPr>
        <p:spPr>
          <a:xfrm>
            <a:off x="3012995" y="1069791"/>
            <a:ext cx="155942" cy="19802"/>
          </a:xfrm>
          <a:custGeom>
            <a:avLst/>
            <a:gdLst/>
            <a:ahLst/>
            <a:cxnLst/>
            <a:rect l="l" t="t" r="r" b="b"/>
            <a:pathLst>
              <a:path w="124899" h="15860">
                <a:moveTo>
                  <a:pt x="6939" y="15860"/>
                </a:moveTo>
                <a:lnTo>
                  <a:pt x="117961" y="15860"/>
                </a:lnTo>
                <a:cubicBezTo>
                  <a:pt x="121789" y="15860"/>
                  <a:pt x="124899" y="12297"/>
                  <a:pt x="124899" y="7930"/>
                </a:cubicBezTo>
                <a:cubicBezTo>
                  <a:pt x="124899" y="3546"/>
                  <a:pt x="121789" y="0"/>
                  <a:pt x="117961" y="0"/>
                </a:cubicBezTo>
                <a:lnTo>
                  <a:pt x="6939" y="0"/>
                </a:lnTo>
                <a:cubicBezTo>
                  <a:pt x="3105" y="0"/>
                  <a:pt x="0" y="3546"/>
                  <a:pt x="0" y="7930"/>
                </a:cubicBezTo>
                <a:cubicBezTo>
                  <a:pt x="0" y="12297"/>
                  <a:pt x="3105" y="15860"/>
                  <a:pt x="6939" y="1586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>
            <p:custDataLst>
              <p:tags r:id="rId4"/>
            </p:custDataLst>
          </p:nvPr>
        </p:nvSpPr>
        <p:spPr>
          <a:xfrm>
            <a:off x="3012995" y="1022221"/>
            <a:ext cx="155942" cy="19802"/>
          </a:xfrm>
          <a:custGeom>
            <a:avLst/>
            <a:gdLst/>
            <a:ahLst/>
            <a:cxnLst/>
            <a:rect l="l" t="t" r="r" b="b"/>
            <a:pathLst>
              <a:path w="124899" h="15860">
                <a:moveTo>
                  <a:pt x="6939" y="15860"/>
                </a:moveTo>
                <a:lnTo>
                  <a:pt x="117961" y="15860"/>
                </a:lnTo>
                <a:cubicBezTo>
                  <a:pt x="121789" y="15860"/>
                  <a:pt x="124899" y="12297"/>
                  <a:pt x="124899" y="7930"/>
                </a:cubicBezTo>
                <a:cubicBezTo>
                  <a:pt x="124899" y="3546"/>
                  <a:pt x="121789" y="0"/>
                  <a:pt x="117961" y="0"/>
                </a:cubicBezTo>
                <a:lnTo>
                  <a:pt x="6939" y="0"/>
                </a:lnTo>
                <a:cubicBezTo>
                  <a:pt x="3105" y="0"/>
                  <a:pt x="0" y="3546"/>
                  <a:pt x="0" y="7930"/>
                </a:cubicBezTo>
                <a:cubicBezTo>
                  <a:pt x="0" y="12297"/>
                  <a:pt x="3105" y="15860"/>
                  <a:pt x="6939" y="1586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27"/>
          <p:cNvSpPr/>
          <p:nvPr>
            <p:custDataLst>
              <p:tags r:id="rId5"/>
            </p:custDataLst>
          </p:nvPr>
        </p:nvSpPr>
        <p:spPr>
          <a:xfrm>
            <a:off x="2822716" y="1386922"/>
            <a:ext cx="155942" cy="17325"/>
          </a:xfrm>
          <a:custGeom>
            <a:avLst/>
            <a:gdLst/>
            <a:ahLst/>
            <a:cxnLst/>
            <a:rect l="l" t="t" r="r" b="b"/>
            <a:pathLst>
              <a:path w="124899" h="13876">
                <a:moveTo>
                  <a:pt x="117961" y="0"/>
                </a:moveTo>
                <a:lnTo>
                  <a:pt x="6939" y="0"/>
                </a:lnTo>
                <a:cubicBezTo>
                  <a:pt x="3105" y="0"/>
                  <a:pt x="0" y="3117"/>
                  <a:pt x="0" y="6938"/>
                </a:cubicBezTo>
                <a:cubicBezTo>
                  <a:pt x="0" y="10787"/>
                  <a:pt x="3105" y="13876"/>
                  <a:pt x="6939" y="13876"/>
                </a:cubicBezTo>
                <a:lnTo>
                  <a:pt x="117961" y="13876"/>
                </a:lnTo>
                <a:cubicBezTo>
                  <a:pt x="121789" y="13876"/>
                  <a:pt x="124899" y="10787"/>
                  <a:pt x="124899" y="6938"/>
                </a:cubicBezTo>
                <a:cubicBezTo>
                  <a:pt x="124899" y="3117"/>
                  <a:pt x="121789" y="0"/>
                  <a:pt x="117961" y="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>
            <p:custDataLst>
              <p:tags r:id="rId6"/>
            </p:custDataLst>
          </p:nvPr>
        </p:nvSpPr>
        <p:spPr>
          <a:xfrm>
            <a:off x="2822716" y="1339352"/>
            <a:ext cx="155942" cy="17326"/>
          </a:xfrm>
          <a:custGeom>
            <a:avLst/>
            <a:gdLst/>
            <a:ahLst/>
            <a:cxnLst/>
            <a:rect l="l" t="t" r="r" b="b"/>
            <a:pathLst>
              <a:path w="124899" h="13877">
                <a:moveTo>
                  <a:pt x="117961" y="0"/>
                </a:moveTo>
                <a:lnTo>
                  <a:pt x="6939" y="0"/>
                </a:lnTo>
                <a:cubicBezTo>
                  <a:pt x="3105" y="0"/>
                  <a:pt x="0" y="3117"/>
                  <a:pt x="0" y="6939"/>
                </a:cubicBezTo>
                <a:cubicBezTo>
                  <a:pt x="0" y="10787"/>
                  <a:pt x="3105" y="13877"/>
                  <a:pt x="6939" y="13877"/>
                </a:cubicBezTo>
                <a:lnTo>
                  <a:pt x="117961" y="13877"/>
                </a:lnTo>
                <a:cubicBezTo>
                  <a:pt x="121789" y="13877"/>
                  <a:pt x="124899" y="10787"/>
                  <a:pt x="124899" y="6939"/>
                </a:cubicBezTo>
                <a:cubicBezTo>
                  <a:pt x="124899" y="3117"/>
                  <a:pt x="121789" y="0"/>
                  <a:pt x="117961" y="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29"/>
          <p:cNvSpPr/>
          <p:nvPr>
            <p:custDataLst>
              <p:tags r:id="rId7"/>
            </p:custDataLst>
          </p:nvPr>
        </p:nvSpPr>
        <p:spPr>
          <a:xfrm>
            <a:off x="2822716" y="1275926"/>
            <a:ext cx="155942" cy="14851"/>
          </a:xfrm>
          <a:custGeom>
            <a:avLst/>
            <a:gdLst/>
            <a:ahLst/>
            <a:cxnLst/>
            <a:rect l="l" t="t" r="r" b="b"/>
            <a:pathLst>
              <a:path w="124899" h="11895">
                <a:moveTo>
                  <a:pt x="117961" y="0"/>
                </a:moveTo>
                <a:lnTo>
                  <a:pt x="6939" y="0"/>
                </a:lnTo>
                <a:cubicBezTo>
                  <a:pt x="3105" y="0"/>
                  <a:pt x="0" y="2671"/>
                  <a:pt x="0" y="5947"/>
                </a:cubicBezTo>
                <a:cubicBezTo>
                  <a:pt x="0" y="9246"/>
                  <a:pt x="3105" y="11895"/>
                  <a:pt x="6939" y="11895"/>
                </a:cubicBezTo>
                <a:lnTo>
                  <a:pt x="117961" y="11895"/>
                </a:lnTo>
                <a:cubicBezTo>
                  <a:pt x="121789" y="11895"/>
                  <a:pt x="124899" y="9246"/>
                  <a:pt x="124899" y="5947"/>
                </a:cubicBezTo>
                <a:cubicBezTo>
                  <a:pt x="124899" y="2671"/>
                  <a:pt x="121789" y="0"/>
                  <a:pt x="117961" y="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>
            <p:custDataLst>
              <p:tags r:id="rId8"/>
            </p:custDataLst>
          </p:nvPr>
        </p:nvSpPr>
        <p:spPr>
          <a:xfrm>
            <a:off x="3012995" y="1386922"/>
            <a:ext cx="155942" cy="17325"/>
          </a:xfrm>
          <a:custGeom>
            <a:avLst/>
            <a:gdLst/>
            <a:ahLst/>
            <a:cxnLst/>
            <a:rect l="l" t="t" r="r" b="b"/>
            <a:pathLst>
              <a:path w="124899" h="13876">
                <a:moveTo>
                  <a:pt x="117961" y="0"/>
                </a:moveTo>
                <a:lnTo>
                  <a:pt x="6939" y="0"/>
                </a:lnTo>
                <a:cubicBezTo>
                  <a:pt x="3105" y="0"/>
                  <a:pt x="0" y="3117"/>
                  <a:pt x="0" y="6938"/>
                </a:cubicBezTo>
                <a:cubicBezTo>
                  <a:pt x="0" y="10787"/>
                  <a:pt x="3105" y="13876"/>
                  <a:pt x="6939" y="13876"/>
                </a:cubicBezTo>
                <a:lnTo>
                  <a:pt x="117961" y="13876"/>
                </a:lnTo>
                <a:cubicBezTo>
                  <a:pt x="121789" y="13876"/>
                  <a:pt x="124899" y="10787"/>
                  <a:pt x="124899" y="6938"/>
                </a:cubicBezTo>
                <a:cubicBezTo>
                  <a:pt x="124899" y="3117"/>
                  <a:pt x="121789" y="0"/>
                  <a:pt x="117961" y="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>
            <p:custDataLst>
              <p:tags r:id="rId9"/>
            </p:custDataLst>
          </p:nvPr>
        </p:nvSpPr>
        <p:spPr>
          <a:xfrm>
            <a:off x="3012995" y="1339352"/>
            <a:ext cx="155942" cy="17326"/>
          </a:xfrm>
          <a:custGeom>
            <a:avLst/>
            <a:gdLst/>
            <a:ahLst/>
            <a:cxnLst/>
            <a:rect l="l" t="t" r="r" b="b"/>
            <a:pathLst>
              <a:path w="124899" h="13877">
                <a:moveTo>
                  <a:pt x="117961" y="0"/>
                </a:moveTo>
                <a:lnTo>
                  <a:pt x="6939" y="0"/>
                </a:lnTo>
                <a:cubicBezTo>
                  <a:pt x="3105" y="0"/>
                  <a:pt x="0" y="3117"/>
                  <a:pt x="0" y="6939"/>
                </a:cubicBezTo>
                <a:cubicBezTo>
                  <a:pt x="0" y="10787"/>
                  <a:pt x="3105" y="13877"/>
                  <a:pt x="6939" y="13877"/>
                </a:cubicBezTo>
                <a:lnTo>
                  <a:pt x="117961" y="13877"/>
                </a:lnTo>
                <a:cubicBezTo>
                  <a:pt x="121789" y="13877"/>
                  <a:pt x="124899" y="10787"/>
                  <a:pt x="124899" y="6939"/>
                </a:cubicBezTo>
                <a:cubicBezTo>
                  <a:pt x="124899" y="3117"/>
                  <a:pt x="121789" y="0"/>
                  <a:pt x="117961" y="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>
            <p:custDataLst>
              <p:tags r:id="rId10"/>
            </p:custDataLst>
          </p:nvPr>
        </p:nvSpPr>
        <p:spPr>
          <a:xfrm>
            <a:off x="3012995" y="1275926"/>
            <a:ext cx="155942" cy="14851"/>
          </a:xfrm>
          <a:custGeom>
            <a:avLst/>
            <a:gdLst/>
            <a:ahLst/>
            <a:cxnLst/>
            <a:rect l="l" t="t" r="r" b="b"/>
            <a:pathLst>
              <a:path w="124899" h="11895">
                <a:moveTo>
                  <a:pt x="117961" y="0"/>
                </a:moveTo>
                <a:lnTo>
                  <a:pt x="6939" y="0"/>
                </a:lnTo>
                <a:cubicBezTo>
                  <a:pt x="3105" y="0"/>
                  <a:pt x="0" y="2671"/>
                  <a:pt x="0" y="5947"/>
                </a:cubicBezTo>
                <a:cubicBezTo>
                  <a:pt x="0" y="9246"/>
                  <a:pt x="3105" y="11895"/>
                  <a:pt x="6939" y="11895"/>
                </a:cubicBezTo>
                <a:lnTo>
                  <a:pt x="117961" y="11895"/>
                </a:lnTo>
                <a:cubicBezTo>
                  <a:pt x="121789" y="11895"/>
                  <a:pt x="124899" y="9246"/>
                  <a:pt x="124899" y="5947"/>
                </a:cubicBezTo>
                <a:cubicBezTo>
                  <a:pt x="124899" y="2671"/>
                  <a:pt x="121789" y="0"/>
                  <a:pt x="117961" y="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33"/>
          <p:cNvSpPr/>
          <p:nvPr>
            <p:custDataLst>
              <p:tags r:id="rId11"/>
            </p:custDataLst>
          </p:nvPr>
        </p:nvSpPr>
        <p:spPr>
          <a:xfrm>
            <a:off x="2822716" y="1180786"/>
            <a:ext cx="349017" cy="17326"/>
          </a:xfrm>
          <a:custGeom>
            <a:avLst/>
            <a:gdLst/>
            <a:ahLst/>
            <a:cxnLst/>
            <a:rect l="l" t="t" r="r" b="b"/>
            <a:pathLst>
              <a:path w="279538" h="13877">
                <a:moveTo>
                  <a:pt x="272550" y="0"/>
                </a:moveTo>
                <a:lnTo>
                  <a:pt x="6989" y="0"/>
                </a:lnTo>
                <a:cubicBezTo>
                  <a:pt x="3132" y="0"/>
                  <a:pt x="0" y="3117"/>
                  <a:pt x="0" y="6939"/>
                </a:cubicBezTo>
                <a:cubicBezTo>
                  <a:pt x="0" y="10775"/>
                  <a:pt x="3132" y="13877"/>
                  <a:pt x="6989" y="13877"/>
                </a:cubicBezTo>
                <a:lnTo>
                  <a:pt x="272550" y="13877"/>
                </a:lnTo>
                <a:cubicBezTo>
                  <a:pt x="276393" y="13877"/>
                  <a:pt x="279538" y="10775"/>
                  <a:pt x="279538" y="6939"/>
                </a:cubicBezTo>
                <a:cubicBezTo>
                  <a:pt x="279538" y="3117"/>
                  <a:pt x="276393" y="0"/>
                  <a:pt x="272550" y="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>
            <p:custDataLst>
              <p:tags r:id="rId12"/>
            </p:custDataLst>
          </p:nvPr>
        </p:nvSpPr>
        <p:spPr>
          <a:xfrm>
            <a:off x="2822716" y="1228356"/>
            <a:ext cx="349017" cy="17325"/>
          </a:xfrm>
          <a:custGeom>
            <a:avLst/>
            <a:gdLst/>
            <a:ahLst/>
            <a:cxnLst/>
            <a:rect l="l" t="t" r="r" b="b"/>
            <a:pathLst>
              <a:path w="279538" h="13876">
                <a:moveTo>
                  <a:pt x="272550" y="0"/>
                </a:moveTo>
                <a:lnTo>
                  <a:pt x="6989" y="0"/>
                </a:lnTo>
                <a:cubicBezTo>
                  <a:pt x="3132" y="0"/>
                  <a:pt x="0" y="3117"/>
                  <a:pt x="0" y="6938"/>
                </a:cubicBezTo>
                <a:cubicBezTo>
                  <a:pt x="0" y="10787"/>
                  <a:pt x="3132" y="13876"/>
                  <a:pt x="6989" y="13876"/>
                </a:cubicBezTo>
                <a:lnTo>
                  <a:pt x="272550" y="13876"/>
                </a:lnTo>
                <a:cubicBezTo>
                  <a:pt x="276393" y="13876"/>
                  <a:pt x="279538" y="10787"/>
                  <a:pt x="279538" y="6938"/>
                </a:cubicBezTo>
                <a:cubicBezTo>
                  <a:pt x="279538" y="3117"/>
                  <a:pt x="276393" y="0"/>
                  <a:pt x="272550" y="0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Freeform 35"/>
          <p:cNvSpPr/>
          <p:nvPr>
            <p:custDataLst>
              <p:tags r:id="rId13"/>
            </p:custDataLst>
          </p:nvPr>
        </p:nvSpPr>
        <p:spPr>
          <a:xfrm>
            <a:off x="2822716" y="974651"/>
            <a:ext cx="155942" cy="158418"/>
          </a:xfrm>
          <a:custGeom>
            <a:avLst/>
            <a:gdLst/>
            <a:ahLst/>
            <a:cxnLst/>
            <a:rect l="l" t="t" r="r" b="b"/>
            <a:pathLst>
              <a:path w="124899" h="126882">
                <a:moveTo>
                  <a:pt x="27750" y="28150"/>
                </a:moveTo>
                <a:lnTo>
                  <a:pt x="97145" y="28150"/>
                </a:lnTo>
                <a:lnTo>
                  <a:pt x="97145" y="98669"/>
                </a:lnTo>
                <a:lnTo>
                  <a:pt x="27750" y="98669"/>
                </a:lnTo>
                <a:cubicBezTo>
                  <a:pt x="27750" y="98669"/>
                  <a:pt x="27750" y="28150"/>
                  <a:pt x="27750" y="28150"/>
                </a:cubicBezTo>
                <a:close/>
                <a:moveTo>
                  <a:pt x="13872" y="126882"/>
                </a:moveTo>
                <a:lnTo>
                  <a:pt x="111017" y="126882"/>
                </a:lnTo>
                <a:cubicBezTo>
                  <a:pt x="118695" y="126882"/>
                  <a:pt x="124899" y="120556"/>
                  <a:pt x="124899" y="112772"/>
                </a:cubicBezTo>
                <a:lnTo>
                  <a:pt x="124899" y="14103"/>
                </a:lnTo>
                <a:cubicBezTo>
                  <a:pt x="124899" y="6321"/>
                  <a:pt x="118695" y="0"/>
                  <a:pt x="111017" y="0"/>
                </a:cubicBezTo>
                <a:lnTo>
                  <a:pt x="13872" y="0"/>
                </a:lnTo>
                <a:cubicBezTo>
                  <a:pt x="6199" y="0"/>
                  <a:pt x="0" y="6321"/>
                  <a:pt x="0" y="14103"/>
                </a:cubicBezTo>
                <a:lnTo>
                  <a:pt x="0" y="112772"/>
                </a:lnTo>
                <a:cubicBezTo>
                  <a:pt x="0" y="120556"/>
                  <a:pt x="6199" y="126882"/>
                  <a:pt x="13872" y="126882"/>
                </a:cubicBezTo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Freeform 36"/>
          <p:cNvSpPr/>
          <p:nvPr>
            <p:custDataLst>
              <p:tags r:id="rId14"/>
            </p:custDataLst>
          </p:nvPr>
        </p:nvSpPr>
        <p:spPr>
          <a:xfrm>
            <a:off x="663736" y="1477010"/>
            <a:ext cx="3519805" cy="4888865"/>
          </a:xfrm>
          <a:custGeom>
            <a:avLst/>
            <a:gdLst/>
            <a:ahLst/>
            <a:cxnLst/>
            <a:rect l="l" t="t" r="r" b="b"/>
            <a:pathLst>
              <a:path w="2581808" h="2819900">
                <a:moveTo>
                  <a:pt x="144992" y="0"/>
                </a:moveTo>
                <a:lnTo>
                  <a:pt x="1048431" y="0"/>
                </a:lnTo>
                <a:cubicBezTo>
                  <a:pt x="1088469" y="0"/>
                  <a:pt x="1124717" y="17371"/>
                  <a:pt x="1150955" y="45456"/>
                </a:cubicBezTo>
                <a:lnTo>
                  <a:pt x="1151570" y="46430"/>
                </a:lnTo>
                <a:lnTo>
                  <a:pt x="1151570" y="45771"/>
                </a:lnTo>
                <a:lnTo>
                  <a:pt x="1330543" y="287865"/>
                </a:lnTo>
                <a:lnTo>
                  <a:pt x="2479995" y="287865"/>
                </a:lnTo>
                <a:cubicBezTo>
                  <a:pt x="2536226" y="287865"/>
                  <a:pt x="2581808" y="336655"/>
                  <a:pt x="2581808" y="396843"/>
                </a:cubicBezTo>
                <a:lnTo>
                  <a:pt x="2581808" y="2710920"/>
                </a:lnTo>
                <a:cubicBezTo>
                  <a:pt x="2581808" y="2771108"/>
                  <a:pt x="2536226" y="2819900"/>
                  <a:pt x="2479995" y="2819900"/>
                </a:cubicBezTo>
                <a:lnTo>
                  <a:pt x="101815" y="2819900"/>
                </a:lnTo>
                <a:cubicBezTo>
                  <a:pt x="45584" y="2819900"/>
                  <a:pt x="0" y="2771108"/>
                  <a:pt x="0" y="2710920"/>
                </a:cubicBezTo>
                <a:lnTo>
                  <a:pt x="0" y="488232"/>
                </a:lnTo>
                <a:lnTo>
                  <a:pt x="0" y="396843"/>
                </a:lnTo>
                <a:lnTo>
                  <a:pt x="0" y="155195"/>
                </a:lnTo>
                <a:cubicBezTo>
                  <a:pt x="0" y="69483"/>
                  <a:pt x="64915" y="0"/>
                  <a:pt x="144992" y="0"/>
                </a:cubicBezTo>
                <a:close/>
              </a:path>
            </a:pathLst>
          </a:custGeom>
          <a:solidFill>
            <a:srgbClr val="CCDAE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8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1" name="Freeform 41"/>
          <p:cNvSpPr/>
          <p:nvPr>
            <p:custDataLst>
              <p:tags r:id="rId15"/>
            </p:custDataLst>
          </p:nvPr>
        </p:nvSpPr>
        <p:spPr>
          <a:xfrm>
            <a:off x="4260721" y="1451610"/>
            <a:ext cx="3519805" cy="4888865"/>
          </a:xfrm>
          <a:custGeom>
            <a:avLst/>
            <a:gdLst/>
            <a:ahLst/>
            <a:cxnLst/>
            <a:rect l="l" t="t" r="r" b="b"/>
            <a:pathLst>
              <a:path w="2581808" h="2819900">
                <a:moveTo>
                  <a:pt x="144992" y="0"/>
                </a:moveTo>
                <a:lnTo>
                  <a:pt x="1048431" y="0"/>
                </a:lnTo>
                <a:cubicBezTo>
                  <a:pt x="1088469" y="0"/>
                  <a:pt x="1124717" y="17371"/>
                  <a:pt x="1150955" y="45456"/>
                </a:cubicBezTo>
                <a:lnTo>
                  <a:pt x="1151570" y="46430"/>
                </a:lnTo>
                <a:lnTo>
                  <a:pt x="1151570" y="45771"/>
                </a:lnTo>
                <a:lnTo>
                  <a:pt x="1330543" y="287865"/>
                </a:lnTo>
                <a:lnTo>
                  <a:pt x="2479995" y="287865"/>
                </a:lnTo>
                <a:cubicBezTo>
                  <a:pt x="2536226" y="287865"/>
                  <a:pt x="2581808" y="336655"/>
                  <a:pt x="2581808" y="396843"/>
                </a:cubicBezTo>
                <a:lnTo>
                  <a:pt x="2581808" y="2710920"/>
                </a:lnTo>
                <a:cubicBezTo>
                  <a:pt x="2581808" y="2771108"/>
                  <a:pt x="2536226" y="2819900"/>
                  <a:pt x="2479995" y="2819900"/>
                </a:cubicBezTo>
                <a:lnTo>
                  <a:pt x="101815" y="2819900"/>
                </a:lnTo>
                <a:cubicBezTo>
                  <a:pt x="45584" y="2819900"/>
                  <a:pt x="0" y="2771108"/>
                  <a:pt x="0" y="2710920"/>
                </a:cubicBezTo>
                <a:lnTo>
                  <a:pt x="0" y="488232"/>
                </a:lnTo>
                <a:lnTo>
                  <a:pt x="0" y="396843"/>
                </a:lnTo>
                <a:lnTo>
                  <a:pt x="0" y="155195"/>
                </a:lnTo>
                <a:cubicBezTo>
                  <a:pt x="0" y="69483"/>
                  <a:pt x="64915" y="0"/>
                  <a:pt x="144992" y="0"/>
                </a:cubicBezTo>
                <a:close/>
              </a:path>
            </a:pathLst>
          </a:custGeom>
          <a:solidFill>
            <a:srgbClr val="678FC3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42"/>
          <p:cNvSpPr/>
          <p:nvPr>
            <p:custDataLst>
              <p:tags r:id="rId16"/>
            </p:custDataLst>
          </p:nvPr>
        </p:nvSpPr>
        <p:spPr>
          <a:xfrm>
            <a:off x="7843520" y="1477010"/>
            <a:ext cx="3519805" cy="4888865"/>
          </a:xfrm>
          <a:custGeom>
            <a:avLst/>
            <a:gdLst/>
            <a:ahLst/>
            <a:cxnLst/>
            <a:rect l="l" t="t" r="r" b="b"/>
            <a:pathLst>
              <a:path w="2581808" h="2819900">
                <a:moveTo>
                  <a:pt x="144992" y="0"/>
                </a:moveTo>
                <a:lnTo>
                  <a:pt x="1048431" y="0"/>
                </a:lnTo>
                <a:cubicBezTo>
                  <a:pt x="1088469" y="0"/>
                  <a:pt x="1124717" y="17371"/>
                  <a:pt x="1150955" y="45456"/>
                </a:cubicBezTo>
                <a:lnTo>
                  <a:pt x="1151570" y="46430"/>
                </a:lnTo>
                <a:lnTo>
                  <a:pt x="1151570" y="45771"/>
                </a:lnTo>
                <a:lnTo>
                  <a:pt x="1330543" y="287865"/>
                </a:lnTo>
                <a:lnTo>
                  <a:pt x="2479995" y="287865"/>
                </a:lnTo>
                <a:cubicBezTo>
                  <a:pt x="2536226" y="287865"/>
                  <a:pt x="2581808" y="336655"/>
                  <a:pt x="2581808" y="396843"/>
                </a:cubicBezTo>
                <a:lnTo>
                  <a:pt x="2581808" y="2710920"/>
                </a:lnTo>
                <a:cubicBezTo>
                  <a:pt x="2581808" y="2771108"/>
                  <a:pt x="2536226" y="2819900"/>
                  <a:pt x="2479995" y="2819900"/>
                </a:cubicBezTo>
                <a:lnTo>
                  <a:pt x="101815" y="2819900"/>
                </a:lnTo>
                <a:cubicBezTo>
                  <a:pt x="45584" y="2819900"/>
                  <a:pt x="0" y="2771108"/>
                  <a:pt x="0" y="2710920"/>
                </a:cubicBezTo>
                <a:lnTo>
                  <a:pt x="0" y="488232"/>
                </a:lnTo>
                <a:lnTo>
                  <a:pt x="0" y="396843"/>
                </a:lnTo>
                <a:lnTo>
                  <a:pt x="0" y="155195"/>
                </a:lnTo>
                <a:cubicBezTo>
                  <a:pt x="0" y="69483"/>
                  <a:pt x="64915" y="0"/>
                  <a:pt x="144992" y="0"/>
                </a:cubicBezTo>
                <a:close/>
              </a:path>
            </a:pathLst>
          </a:custGeom>
          <a:solidFill>
            <a:srgbClr val="CCDAE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43"/>
          <p:cNvSpPr/>
          <p:nvPr>
            <p:custDataLst>
              <p:tags r:id="rId17"/>
            </p:custDataLst>
          </p:nvPr>
        </p:nvSpPr>
        <p:spPr>
          <a:xfrm>
            <a:off x="504190" y="927100"/>
            <a:ext cx="3787775" cy="4597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微软雅黑" panose="020B0503020204020204" charset="-122"/>
                <a:sym typeface="微软雅黑" panose="020B0503020204020204" charset="-122"/>
              </a:rPr>
              <a:t>预测下一时刻位置</a:t>
            </a:r>
          </a:p>
        </p:txBody>
      </p:sp>
      <p:sp>
        <p:nvSpPr>
          <p:cNvPr id="44" name="AutoShape 44"/>
          <p:cNvSpPr/>
          <p:nvPr>
            <p:custDataLst>
              <p:tags r:id="rId18"/>
            </p:custDataLst>
          </p:nvPr>
        </p:nvSpPr>
        <p:spPr>
          <a:xfrm>
            <a:off x="4110355" y="927100"/>
            <a:ext cx="3787775" cy="4597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微软雅黑" panose="020B0503020204020204" charset="-122"/>
                <a:sym typeface="微软雅黑" panose="020B0503020204020204" charset="-122"/>
              </a:rPr>
              <a:t>计算新位置加速度</a:t>
            </a:r>
          </a:p>
        </p:txBody>
      </p:sp>
      <p:sp>
        <p:nvSpPr>
          <p:cNvPr id="45" name="AutoShape 45"/>
          <p:cNvSpPr/>
          <p:nvPr>
            <p:custDataLst>
              <p:tags r:id="rId19"/>
            </p:custDataLst>
          </p:nvPr>
        </p:nvSpPr>
        <p:spPr>
          <a:xfrm>
            <a:off x="7811770" y="934085"/>
            <a:ext cx="3787775" cy="4597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微软雅黑" panose="020B0503020204020204" charset="-122"/>
                <a:sym typeface="微软雅黑" panose="020B0503020204020204" charset="-122"/>
              </a:rPr>
              <a:t>校正系统运动速度</a:t>
            </a:r>
          </a:p>
        </p:txBody>
      </p:sp>
      <p:sp>
        <p:nvSpPr>
          <p:cNvPr id="46" name="AutoShape 46"/>
          <p:cNvSpPr/>
          <p:nvPr>
            <p:custDataLst>
              <p:tags r:id="rId20"/>
            </p:custDataLst>
          </p:nvPr>
        </p:nvSpPr>
        <p:spPr>
          <a:xfrm>
            <a:off x="661263" y="1473729"/>
            <a:ext cx="2648045" cy="72940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80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Step 01</a:t>
            </a:r>
          </a:p>
        </p:txBody>
      </p:sp>
      <p:sp>
        <p:nvSpPr>
          <p:cNvPr id="47" name="AutoShape 47"/>
          <p:cNvSpPr/>
          <p:nvPr>
            <p:custDataLst>
              <p:tags r:id="rId21"/>
            </p:custDataLst>
          </p:nvPr>
        </p:nvSpPr>
        <p:spPr>
          <a:xfrm>
            <a:off x="4244062" y="1481984"/>
            <a:ext cx="2648045" cy="72940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80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Step 02</a:t>
            </a:r>
          </a:p>
        </p:txBody>
      </p:sp>
      <p:sp>
        <p:nvSpPr>
          <p:cNvPr id="48" name="AutoShape 48"/>
          <p:cNvSpPr/>
          <p:nvPr>
            <p:custDataLst>
              <p:tags r:id="rId22"/>
            </p:custDataLst>
          </p:nvPr>
        </p:nvSpPr>
        <p:spPr>
          <a:xfrm>
            <a:off x="7811770" y="1482090"/>
            <a:ext cx="2891790" cy="7988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8080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微软雅黑" panose="020B0503020204020204" charset="-122"/>
              </a:rPr>
              <a:t>Step 03</a:t>
            </a:r>
          </a:p>
        </p:txBody>
      </p:sp>
      <p:sp>
        <p:nvSpPr>
          <p:cNvPr id="49" name="AutoShape 49"/>
          <p:cNvSpPr/>
          <p:nvPr>
            <p:custDataLst>
              <p:tags r:id="rId23"/>
            </p:custDataLst>
          </p:nvPr>
        </p:nvSpPr>
        <p:spPr>
          <a:xfrm>
            <a:off x="787400" y="2111375"/>
            <a:ext cx="3221355" cy="422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 dirty="0" err="1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核心公式</a:t>
            </a:r>
            <a:r>
              <a:rPr lang="en-US" sz="2800" b="1" i="0" u="none" strike="noStrike" dirty="0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：</a:t>
            </a:r>
            <a:endParaRPr lang="en-US"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l">
              <a:lnSpc>
                <a:spcPct val="108000"/>
              </a:lnSpc>
            </a:pPr>
            <a:endParaRPr lang="en-US" sz="2800" b="0" i="0" u="none" strike="noStrike" dirty="0">
              <a:solidFill>
                <a:srgbClr val="505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endParaRPr lang="en-US" sz="2800" dirty="0">
              <a:solidFill>
                <a:srgbClr val="505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2800" b="0" i="0" u="none" strike="noStrike" dirty="0" err="1">
                <a:solidFill>
                  <a:srgbClr val="505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基于当前粒子的位置、速度和加速度，利用泰勒展开预测下一积分步长的粒子位置，为后续计算提供基础</a:t>
            </a:r>
            <a:r>
              <a:rPr lang="en-US" sz="2800" b="0" i="0" u="none" strike="noStrike" dirty="0">
                <a:solidFill>
                  <a:srgbClr val="505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。</a:t>
            </a:r>
          </a:p>
        </p:txBody>
      </p:sp>
      <p:sp>
        <p:nvSpPr>
          <p:cNvPr id="50" name="AutoShape 50"/>
          <p:cNvSpPr/>
          <p:nvPr>
            <p:custDataLst>
              <p:tags r:id="rId24"/>
            </p:custDataLst>
          </p:nvPr>
        </p:nvSpPr>
        <p:spPr>
          <a:xfrm>
            <a:off x="4355465" y="2032000"/>
            <a:ext cx="3221355" cy="43332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 dirty="0" err="1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核心公式</a:t>
            </a:r>
            <a:r>
              <a:rPr lang="en-US" sz="2800" b="1" i="0" u="none" strike="noStrike" dirty="0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：</a:t>
            </a:r>
            <a:endParaRPr lang="en-US"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l">
              <a:lnSpc>
                <a:spcPct val="108000"/>
              </a:lnSpc>
            </a:pPr>
            <a:endParaRPr lang="en-US" sz="2800" b="0" i="0" u="none" strike="noStrike" dirty="0">
              <a:solidFill>
                <a:srgbClr val="505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endParaRPr lang="en-US" sz="2800" dirty="0">
              <a:solidFill>
                <a:srgbClr val="505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2800" b="0" i="0" u="none" strike="noStrike" dirty="0" err="1">
                <a:solidFill>
                  <a:srgbClr val="505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将预测得到的新位置代入引力场方程，计算该位置下的瞬时加速度，反映粒子在新位置受到的引力作用变化</a:t>
            </a:r>
            <a:r>
              <a:rPr lang="en-US" sz="2800" b="0" i="0" u="none" strike="noStrike" dirty="0">
                <a:solidFill>
                  <a:srgbClr val="505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。</a:t>
            </a:r>
          </a:p>
        </p:txBody>
      </p:sp>
      <p:sp>
        <p:nvSpPr>
          <p:cNvPr id="51" name="AutoShape 51"/>
          <p:cNvSpPr/>
          <p:nvPr>
            <p:custDataLst>
              <p:tags r:id="rId25"/>
            </p:custDataLst>
          </p:nvPr>
        </p:nvSpPr>
        <p:spPr>
          <a:xfrm>
            <a:off x="7970520" y="2032000"/>
            <a:ext cx="3221355" cy="43332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 dirty="0" err="1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核心公式</a:t>
            </a:r>
            <a:r>
              <a:rPr lang="en-US" sz="2800" b="1" i="0" u="none" strike="noStrike" dirty="0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：</a:t>
            </a:r>
            <a:endParaRPr lang="en-US" sz="2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l">
              <a:lnSpc>
                <a:spcPct val="108000"/>
              </a:lnSpc>
            </a:pPr>
            <a:endParaRPr lang="en-US" sz="2800" b="0" i="0" u="none" strike="noStrike" dirty="0">
              <a:solidFill>
                <a:srgbClr val="505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endParaRPr lang="en-US" sz="2800" dirty="0">
              <a:solidFill>
                <a:srgbClr val="505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微软雅黑" panose="020B0503020204020204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2800" b="0" i="0" u="none" strike="noStrike" dirty="0" err="1">
                <a:solidFill>
                  <a:srgbClr val="505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采用新旧加速度的算术平均值来校正速度，保证了算法的二阶精度，同时确保系统能量在长时间演化中守恒</a:t>
            </a:r>
            <a:r>
              <a:rPr lang="en-US" sz="2800" b="0" i="0" u="none" strike="noStrike" dirty="0">
                <a:solidFill>
                  <a:srgbClr val="505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微软雅黑" panose="020B0503020204020204" charset="-122"/>
              </a:rPr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B227C9-9868-C754-A7CA-3942B2D43DE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5515" y="2801645"/>
            <a:ext cx="3519805" cy="6232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8ABC0D9-E52F-B177-EF24-E166003304A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802957" y="2691155"/>
            <a:ext cx="2353762" cy="6997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21752E8-3061-10EA-8987-52BABAD8533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43520" y="2626287"/>
            <a:ext cx="3771900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oShape 15"/>
          <p:cNvSpPr/>
          <p:nvPr>
            <p:custDataLst>
              <p:tags r:id="rId1"/>
            </p:custDataLst>
          </p:nvPr>
        </p:nvSpPr>
        <p:spPr>
          <a:xfrm>
            <a:off x="6332855" y="1805940"/>
            <a:ext cx="5581650" cy="4778375"/>
          </a:xfrm>
          <a:prstGeom prst="roundRect">
            <a:avLst>
              <a:gd name="adj" fmla="val 3103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97A67A-DE4D-9384-730E-489D4466B0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2245" y="1539240"/>
            <a:ext cx="5182869" cy="3944365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2"/>
            </p:custDataLst>
          </p:nvPr>
        </p:nvSpPr>
        <p:spPr>
          <a:xfrm>
            <a:off x="381000" y="1805940"/>
            <a:ext cx="5257165" cy="4781550"/>
          </a:xfrm>
          <a:prstGeom prst="roundRect">
            <a:avLst>
              <a:gd name="adj" fmla="val 3103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14304C-935A-39F0-1534-BA698957BB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4430" y="1587500"/>
            <a:ext cx="3683000" cy="4225811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13"/>
          <a:srcRect t="5223" b="5223"/>
          <a:stretch>
            <a:fillRect/>
          </a:stretch>
        </p:blipFill>
        <p:spPr>
          <a:xfrm>
            <a:off x="9779000" y="317500"/>
            <a:ext cx="20320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190500" y="825500"/>
            <a:ext cx="7874000" cy="508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90500" y="16256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141414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算法稳定性测试：</a:t>
            </a:r>
            <a:r>
              <a:rPr lang="en-US" sz="2800" b="1" i="0" u="none" strike="noStrike">
                <a:solidFill>
                  <a:srgbClr val="141414"/>
                </a:solidFill>
                <a:latin typeface="Times New Roman" panose="02020603050405020304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能量误差对比</a:t>
            </a:r>
            <a:endParaRPr lang="en-US" sz="2800">
              <a:latin typeface="Times New Roman" panose="02020603050405020304" charset="0"/>
            </a:endParaRPr>
          </a:p>
        </p:txBody>
      </p:sp>
      <p:sp>
        <p:nvSpPr>
          <p:cNvPr id="14" name="AutoShape 14"/>
          <p:cNvSpPr/>
          <p:nvPr>
            <p:custDataLst>
              <p:tags r:id="rId3"/>
            </p:custDataLst>
          </p:nvPr>
        </p:nvSpPr>
        <p:spPr>
          <a:xfrm>
            <a:off x="1154430" y="912495"/>
            <a:ext cx="3683000" cy="849630"/>
          </a:xfrm>
          <a:prstGeom prst="roundRect">
            <a:avLst>
              <a:gd name="adj" fmla="val 14285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16" name="AutoShape 16"/>
          <p:cNvSpPr/>
          <p:nvPr>
            <p:custDataLst>
              <p:tags r:id="rId4"/>
            </p:custDataLst>
          </p:nvPr>
        </p:nvSpPr>
        <p:spPr>
          <a:xfrm>
            <a:off x="7229475" y="924560"/>
            <a:ext cx="3683000" cy="833120"/>
          </a:xfrm>
          <a:prstGeom prst="roundRect">
            <a:avLst>
              <a:gd name="adj" fmla="val 14285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>
            <p:custDataLst>
              <p:tags r:id="rId5"/>
            </p:custDataLst>
          </p:nvPr>
        </p:nvSpPr>
        <p:spPr>
          <a:xfrm>
            <a:off x="1289685" y="1039495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01</a:t>
            </a:r>
            <a:r>
              <a:rPr lang="en-US" sz="28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Times New Roman" panose="02020603050405020304"/>
              </a:rPr>
              <a:t> </a:t>
            </a:r>
            <a:r>
              <a:rPr lang="en-US" sz="28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轨道演化对比</a:t>
            </a:r>
            <a:endParaRPr 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6"/>
            </p:custDataLst>
          </p:nvPr>
        </p:nvSpPr>
        <p:spPr>
          <a:xfrm>
            <a:off x="571182" y="5740086"/>
            <a:ext cx="4849495" cy="96619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0" indent="0" algn="just">
              <a:lnSpc>
                <a:spcPct val="108000"/>
              </a:lnSpc>
              <a:defRPr/>
            </a:pPr>
            <a:r>
              <a:rPr lang="en-US" b="0" i="0" u="none" strike="noStrike" dirty="0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对比欧拉法、</a:t>
            </a:r>
            <a:r>
              <a:rPr lang="en-US" b="0" i="0" u="none" strike="noStrike" dirty="0">
                <a:solidFill>
                  <a:srgbClr val="282828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RK4 </a:t>
            </a:r>
            <a:r>
              <a:rPr lang="en-US" b="0" i="0" u="none" strike="noStrike" dirty="0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与</a:t>
            </a:r>
            <a:r>
              <a:rPr lang="en-US" b="0" i="0" u="none" strike="noStrike" dirty="0">
                <a:solidFill>
                  <a:srgbClr val="282828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Velocity Verlet </a:t>
            </a:r>
            <a:r>
              <a:rPr lang="en-US" b="0" i="0" u="none" strike="noStrike" dirty="0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轨道表现：欧拉法轨道随时间迅速发散，</a:t>
            </a:r>
            <a:r>
              <a:rPr lang="en-US" b="0" i="0" u="none" strike="noStrike" dirty="0">
                <a:solidFill>
                  <a:srgbClr val="282828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RK4 </a:t>
            </a:r>
            <a:r>
              <a:rPr lang="en-US" b="0" i="0" u="none" strike="noStrike" dirty="0" err="1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精度略高但仍存在偏移，而</a:t>
            </a:r>
            <a:r>
              <a:rPr lang="en-US" b="0" i="0" u="none" strike="noStrike" dirty="0">
                <a:solidFill>
                  <a:srgbClr val="282828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Velocity Verlet </a:t>
            </a:r>
            <a:r>
              <a:rPr lang="en-US" b="0" i="0" u="none" strike="noStrike" dirty="0" err="1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保持了轨道的稳定闭合，展现出优异的几何守恒性</a:t>
            </a:r>
            <a:r>
              <a:rPr lang="en-US" b="0" i="0" u="none" strike="noStrike" dirty="0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</a:p>
        </p:txBody>
      </p:sp>
      <p:sp>
        <p:nvSpPr>
          <p:cNvPr id="20" name="AutoShape 20"/>
          <p:cNvSpPr/>
          <p:nvPr>
            <p:custDataLst>
              <p:tags r:id="rId7"/>
            </p:custDataLst>
          </p:nvPr>
        </p:nvSpPr>
        <p:spPr>
          <a:xfrm>
            <a:off x="7426325" y="101473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02</a:t>
            </a:r>
            <a:r>
              <a:rPr lang="en-US" sz="28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Times New Roman" panose="02020603050405020304"/>
              </a:rPr>
              <a:t> </a:t>
            </a:r>
            <a:r>
              <a:rPr lang="en-US" sz="28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能量误差演化</a:t>
            </a:r>
            <a:endParaRPr 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8"/>
            </p:custDataLst>
          </p:nvPr>
        </p:nvSpPr>
        <p:spPr>
          <a:xfrm>
            <a:off x="6578017" y="5394635"/>
            <a:ext cx="5182870" cy="9975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marL="0" indent="0" algn="just">
              <a:lnSpc>
                <a:spcPct val="108000"/>
              </a:lnSpc>
              <a:defRPr/>
            </a:pPr>
            <a:r>
              <a:rPr lang="en-US" b="0" i="0" u="none" strike="noStrike" dirty="0" err="1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欧拉法与</a:t>
            </a:r>
            <a:r>
              <a:rPr lang="en-US" b="0" i="0" u="none" strike="noStrike" dirty="0">
                <a:solidFill>
                  <a:srgbClr val="282828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RK4 </a:t>
            </a:r>
            <a:r>
              <a:rPr lang="en-US" b="0" i="0" u="none" strike="noStrike" dirty="0" err="1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的能量误差呈单向漂移趋势，系统总能量不守恒；</a:t>
            </a:r>
            <a:r>
              <a:rPr lang="en-US" b="0" i="0" u="none" strike="noStrike" dirty="0" err="1">
                <a:solidFill>
                  <a:srgbClr val="282828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Velocity</a:t>
            </a:r>
            <a:r>
              <a:rPr lang="en-US" b="0" i="0" u="none" strike="noStrike" dirty="0">
                <a:solidFill>
                  <a:srgbClr val="282828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Verlet </a:t>
            </a:r>
            <a:r>
              <a:rPr lang="en-US" b="0" i="0" u="none" strike="noStrike" dirty="0" err="1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误差呈有界振荡，无长期漂移</a:t>
            </a:r>
            <a:r>
              <a:rPr lang="en-US" b="0" i="0" u="none" strike="noStrike" dirty="0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  <a:endParaRPr lang="en-US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just">
              <a:lnSpc>
                <a:spcPct val="108000"/>
              </a:lnSpc>
            </a:pPr>
            <a:r>
              <a:rPr lang="en-US" b="1" i="0" u="none" strike="noStrike" dirty="0" err="1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结论：</a:t>
            </a:r>
            <a:r>
              <a:rPr lang="en-US" b="0" i="0" u="none" strike="noStrike" dirty="0" err="1">
                <a:solidFill>
                  <a:srgbClr val="282828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Velocity</a:t>
            </a:r>
            <a:r>
              <a:rPr lang="en-US" b="0" i="0" u="none" strike="noStrike" dirty="0">
                <a:solidFill>
                  <a:srgbClr val="282828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</a:t>
            </a:r>
            <a:r>
              <a:rPr lang="en-US" b="0" i="0" u="none" strike="noStrike" dirty="0" err="1">
                <a:solidFill>
                  <a:srgbClr val="282828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Verlet</a:t>
            </a:r>
            <a:r>
              <a:rPr lang="en-US" b="0" i="0" u="none" strike="noStrike" dirty="0" err="1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的长期稳定性使其成为引力系统模拟的最佳算法选择</a:t>
            </a:r>
            <a:r>
              <a:rPr lang="en-US" sz="2400" b="0" i="0" u="none" strike="noStrike" dirty="0">
                <a:solidFill>
                  <a:srgbClr val="28282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208655" y="2336800"/>
            <a:ext cx="4737100" cy="10922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" y="1778000"/>
            <a:ext cx="330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2000" b="1" i="0" u="none" strike="noStrike">
                <a:solidFill>
                  <a:srgbClr val="2C4A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345180" y="2336800"/>
            <a:ext cx="447992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数据分析与图表可视化</a:t>
            </a:r>
          </a:p>
          <a:p>
            <a:pPr marL="0" indent="0" algn="l">
              <a:lnSpc>
                <a:spcPct val="92000"/>
              </a:lnSpc>
              <a:defRPr/>
            </a:pPr>
            <a:endParaRPr lang="en-US" sz="1200">
              <a:latin typeface="Times New Roman" panose="02020603050405020304" charset="0"/>
            </a:endParaRPr>
          </a:p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主讲：杨雯燕</a:t>
            </a:r>
          </a:p>
        </p:txBody>
      </p:sp>
      <p:sp>
        <p:nvSpPr>
          <p:cNvPr id="14" name="AutoShape 14"/>
          <p:cNvSpPr/>
          <p:nvPr/>
        </p:nvSpPr>
        <p:spPr>
          <a:xfrm rot="10800000" flipV="1">
            <a:off x="10871200" y="6121400"/>
            <a:ext cx="7874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 rot="10800000" flipV="1">
            <a:off x="10375900" y="6299200"/>
            <a:ext cx="12827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 flipV="1">
            <a:off x="11112500" y="6477000"/>
            <a:ext cx="546100" cy="63500"/>
          </a:xfrm>
          <a:prstGeom prst="roundRect">
            <a:avLst>
              <a:gd name="adj" fmla="val 16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4"/>
          <p:cNvSpPr/>
          <p:nvPr/>
        </p:nvSpPr>
        <p:spPr>
          <a:xfrm>
            <a:off x="3235325" y="3505200"/>
            <a:ext cx="7140575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76200" rIns="88900" bIns="76200" rtlCol="0" anchor="t" anchorCtr="0"/>
          <a:lstStyle>
            <a:lvl1pPr marL="596900" indent="-304800"/>
            <a:lvl2pPr marL="1054100" indent="-304800"/>
            <a:lvl3pPr marL="1511300" indent="-304800"/>
            <a:lvl4pPr marL="1968500" indent="-304800"/>
            <a:lvl5pPr marL="2425700" indent="-304800"/>
            <a:lvl6pPr marL="2882900" indent="-304800"/>
            <a:lvl7pPr marL="3340100" indent="-304800"/>
            <a:lvl8pPr marL="3797300" indent="-304800"/>
            <a:lvl9pPr marL="4254500" indent="-304800"/>
          </a:lstStyle>
          <a:p>
            <a:pPr marL="292100" indent="-279400" algn="l">
              <a:lnSpc>
                <a:spcPct val="108000"/>
              </a:lnSpc>
              <a:buClr>
                <a:srgbClr val="2C4A70"/>
              </a:buClr>
              <a:buFont typeface="Arial" panose="020B0604020202020204"/>
              <a:buChar char="•"/>
              <a:defRPr/>
            </a:pPr>
            <a:r>
              <a:rPr lang="zh-CN" altLang="en-US" sz="2400" b="1" i="0" u="none" strike="noStrike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演化过程：</a:t>
            </a:r>
            <a:r>
              <a:rPr lang="zh-CN" altLang="en-US" sz="2000" b="0" i="0" u="none" strike="noStrike">
                <a:solidFill>
                  <a:srgbClr val="32323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潮汐尾形成的完整可视化呈现。</a:t>
            </a:r>
          </a:p>
          <a:p>
            <a:pPr marL="292100" indent="-279400" algn="l">
              <a:lnSpc>
                <a:spcPct val="108000"/>
              </a:lnSpc>
              <a:buClr>
                <a:srgbClr val="2C4A70"/>
              </a:buClr>
              <a:buFont typeface="Arial" panose="020B0604020202020204"/>
              <a:buChar char="•"/>
              <a:defRPr/>
            </a:pPr>
            <a:r>
              <a:rPr lang="zh-CN" altLang="en-US" sz="2400" b="1" i="0" u="none" strike="noStrike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定量分析</a:t>
            </a:r>
            <a:r>
              <a:rPr lang="en-US" altLang="zh-CN" sz="2400" b="1" i="0" u="none" strike="noStrike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 </a:t>
            </a:r>
            <a:r>
              <a:rPr lang="en-US" altLang="zh-CN" sz="2400" b="1" i="0" u="none" strike="noStrike">
                <a:solidFill>
                  <a:schemeClr val="bg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I</a:t>
            </a:r>
            <a:r>
              <a:rPr lang="zh-CN" altLang="en-US" sz="2400" b="1" i="0" u="none" strike="noStrike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：</a:t>
            </a:r>
            <a:r>
              <a:rPr lang="zh-CN" altLang="en-US" sz="2000" b="0" i="0" u="none" strike="noStrike">
                <a:solidFill>
                  <a:srgbClr val="32323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解析物质逃逸比例与潮汐强度的关联。</a:t>
            </a:r>
          </a:p>
          <a:p>
            <a:pPr marL="292100" indent="-279400" algn="l">
              <a:lnSpc>
                <a:spcPct val="108000"/>
              </a:lnSpc>
              <a:buClr>
                <a:srgbClr val="2C4A70"/>
              </a:buClr>
              <a:buFont typeface="Arial" panose="020B0604020202020204"/>
              <a:buChar char="•"/>
              <a:defRPr/>
            </a:pPr>
            <a:r>
              <a:rPr lang="zh-CN" altLang="en-US" sz="2400" b="1" i="0" u="none" strike="noStrike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定量分析</a:t>
            </a:r>
            <a:r>
              <a:rPr lang="en-US" altLang="zh-CN" sz="2400" b="1" i="0" u="none" strike="noStrike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 </a:t>
            </a:r>
            <a:r>
              <a:rPr lang="en-US" altLang="zh-CN" sz="2400" b="1" i="0" u="none" strike="noStrike">
                <a:solidFill>
                  <a:schemeClr val="bg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II</a:t>
            </a:r>
            <a:r>
              <a:rPr lang="zh-CN" altLang="en-US" sz="2400" b="1" i="0" u="none" strike="noStrike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：</a:t>
            </a:r>
            <a:r>
              <a:rPr lang="zh-CN" altLang="en-US" sz="2000" b="0" i="0" u="none" strike="noStrike">
                <a:solidFill>
                  <a:srgbClr val="323232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探究尾部不对称性随潮汐强度的变化。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264795" y="165100"/>
            <a:ext cx="571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潮汐尾演化模拟结果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58948" y="1032557"/>
            <a:ext cx="11381105" cy="556323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algn="ctr" rotWithShape="0">
              <a:srgbClr val="80808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EC7E45-5148-C2BD-7A01-8803A6573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821" y="800100"/>
            <a:ext cx="7056947" cy="5643802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4865" y="1200981"/>
            <a:ext cx="2087611" cy="15111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 dirty="0">
                <a:solidFill>
                  <a:srgbClr val="2C4A7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01</a:t>
            </a:r>
            <a:r>
              <a:rPr lang="en-US" sz="1800" b="1" i="0" u="none" strike="noStrike" dirty="0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 </a:t>
            </a:r>
            <a:r>
              <a:rPr lang="en-US" sz="1800" b="1" i="0" u="none" strike="noStrike" dirty="0" err="1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初始状态</a:t>
            </a:r>
            <a:r>
              <a:rPr lang="en-US" sz="1800" b="1" i="0" u="none" strike="noStrike" dirty="0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 </a:t>
            </a:r>
            <a:r>
              <a:rPr lang="en-US" sz="1800" b="1" i="0" u="none" strike="noStrike" dirty="0">
                <a:solidFill>
                  <a:srgbClr val="2C4A7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(t=0)</a:t>
            </a:r>
            <a:r>
              <a:rPr lang="en-US" sz="1800" b="1" i="0" u="none" strike="noStrike" dirty="0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：</a:t>
            </a:r>
            <a:r>
              <a:rPr lang="en-US" sz="1800" b="0" i="0" u="none" strike="noStrike" dirty="0" err="1">
                <a:solidFill>
                  <a:srgbClr val="3C3C3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星团呈致密球状分布，恒星集中于核心，结构紧凑，无明显拉伸</a:t>
            </a:r>
            <a:r>
              <a:rPr lang="en-US" sz="1800" b="0" i="0" u="none" strike="noStrike" dirty="0">
                <a:solidFill>
                  <a:srgbClr val="3C3C3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  <a:endParaRPr 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800" b="1" i="0" u="none" strike="noStrike" dirty="0">
                <a:solidFill>
                  <a:srgbClr val="2C4A7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02</a:t>
            </a:r>
            <a:r>
              <a:rPr lang="en-US" sz="1800" b="1" i="0" u="none" strike="noStrike" dirty="0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 </a:t>
            </a:r>
            <a:r>
              <a:rPr lang="en-US" sz="1800" b="1" i="0" u="none" strike="noStrike" dirty="0" err="1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中期演化</a:t>
            </a:r>
            <a:r>
              <a:rPr lang="en-US" sz="1800" b="1" i="0" u="none" strike="noStrike" dirty="0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 </a:t>
            </a:r>
            <a:r>
              <a:rPr lang="en-US" sz="1800" b="1" i="0" u="none" strike="noStrike" dirty="0">
                <a:solidFill>
                  <a:srgbClr val="2C4A7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(t=20/40)</a:t>
            </a:r>
            <a:r>
              <a:rPr lang="en-US" sz="1800" b="1" i="0" u="none" strike="noStrike" dirty="0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：</a:t>
            </a:r>
            <a:r>
              <a:rPr lang="en-US" sz="1800" b="0" i="0" u="none" strike="noStrike" dirty="0" err="1">
                <a:solidFill>
                  <a:srgbClr val="3C3C3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潮汐场作用下沿</a:t>
            </a:r>
            <a:r>
              <a:rPr lang="en-US" sz="1800" b="0" i="0" u="none" strike="noStrike" dirty="0" err="1">
                <a:solidFill>
                  <a:srgbClr val="3C3C3C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X</a:t>
            </a:r>
            <a:r>
              <a:rPr lang="en-US" sz="1800" b="0" i="0" u="none" strike="noStrike" dirty="0">
                <a:solidFill>
                  <a:srgbClr val="3C3C3C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</a:t>
            </a:r>
            <a:r>
              <a:rPr lang="en-US" sz="1800" b="0" i="0" u="none" strike="noStrike" dirty="0" err="1">
                <a:solidFill>
                  <a:srgbClr val="3C3C3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轴拉长，边缘恒星渐脱离束缚，呈初步拉伸形态</a:t>
            </a:r>
            <a:r>
              <a:rPr lang="en-US" sz="1800" b="0" i="0" u="none" strike="noStrike" dirty="0">
                <a:solidFill>
                  <a:srgbClr val="3C3C3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</a:p>
          <a:p>
            <a:pPr marL="0" indent="0" algn="l">
              <a:lnSpc>
                <a:spcPct val="108000"/>
              </a:lnSpc>
            </a:pPr>
            <a:r>
              <a:rPr lang="en-US" sz="1800" b="1" i="0" u="none" strike="noStrike" dirty="0">
                <a:solidFill>
                  <a:srgbClr val="2C4A7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03</a:t>
            </a:r>
            <a:r>
              <a:rPr lang="en-US" sz="1800" b="1" i="0" u="none" strike="noStrike" dirty="0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 </a:t>
            </a:r>
            <a:r>
              <a:rPr lang="en-US" sz="1800" b="1" i="0" u="none" strike="noStrike" dirty="0" err="1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最终形态</a:t>
            </a:r>
            <a:r>
              <a:rPr lang="en-US" sz="1800" b="1" i="0" u="none" strike="noStrike" dirty="0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 </a:t>
            </a:r>
            <a:r>
              <a:rPr lang="en-US" sz="1800" b="1" i="0" u="none" strike="noStrike" dirty="0">
                <a:solidFill>
                  <a:srgbClr val="2C4A7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(t=80)</a:t>
            </a:r>
            <a:r>
              <a:rPr lang="en-US" sz="1800" b="1" i="0" u="none" strike="noStrike" dirty="0">
                <a:solidFill>
                  <a:srgbClr val="2C4A7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：</a:t>
            </a:r>
            <a:r>
              <a:rPr lang="en-US" sz="1800" b="0" i="0" u="none" strike="noStrike" dirty="0" err="1">
                <a:solidFill>
                  <a:srgbClr val="3C3C3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形成典型“核-尾”结构，中心存致密核，两侧延伸出清晰潮汐尾</a:t>
            </a:r>
            <a:r>
              <a:rPr lang="en-US" sz="1800" b="0" i="0" u="none" strike="noStrike" dirty="0">
                <a:solidFill>
                  <a:srgbClr val="3C3C3C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820794" y="126508"/>
            <a:ext cx="4318000" cy="762000"/>
          </a:xfrm>
          <a:prstGeom prst="roundRect">
            <a:avLst>
              <a:gd name="adj" fmla="val 21666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800" b="1" i="0" u="none" strike="noStrike" dirty="0" err="1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潮汐尾形成的演化图</a:t>
            </a:r>
            <a:endParaRPr lang="en-US" sz="2800" b="1" i="0" u="none" strike="noStrike" dirty="0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Kaiti SC"/>
              <a:sym typeface="Kaiti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64795" y="749300"/>
            <a:ext cx="3367753" cy="508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12700" cap="flat" cmpd="sng">
            <a:solidFill>
              <a:srgbClr val="0C1A2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7E31191-6973-CAF8-A78B-EFC3D53BD23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62750" y="897255"/>
            <a:ext cx="4655854" cy="3797717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18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191135" y="723900"/>
            <a:ext cx="8318500" cy="508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12700" cap="flat" cmpd="sng">
            <a:solidFill>
              <a:srgbClr val="0C1A2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91135" y="127000"/>
            <a:ext cx="609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潮汐强度与逃逸比例分析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13055" y="850900"/>
            <a:ext cx="3764280" cy="762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22333" y="4827731"/>
            <a:ext cx="2413000" cy="508000"/>
          </a:xfrm>
          <a:prstGeom prst="roundRect">
            <a:avLst>
              <a:gd name="adj" fmla="val 15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19"/>
          <p:cNvSpPr/>
          <p:nvPr/>
        </p:nvSpPr>
        <p:spPr>
          <a:xfrm>
            <a:off x="988695" y="4828763"/>
            <a:ext cx="2413000" cy="50696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趋势直观呈现</a:t>
            </a:r>
            <a:endParaRPr lang="en-US" sz="2400" b="1" i="0" u="none" strike="noStrike" dirty="0">
              <a:solidFill>
                <a:srgbClr val="FFFFFF"/>
              </a:solidFill>
              <a:latin typeface="楷体" panose="02010609060101010101" charset="-122"/>
              <a:ea typeface="楷体" panose="02010609060101010101" charset="-122"/>
              <a:cs typeface="Kaiti SC"/>
              <a:sym typeface="Kaiti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92125" y="5286102"/>
            <a:ext cx="3585210" cy="100039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多随机种子模拟数据表明，星团平均逃逸比例随潮汐强度</a:t>
            </a:r>
            <a:r>
              <a:rPr lang="en-US" sz="1800" b="0" i="0" u="none" strike="noStrike" dirty="0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k </a:t>
            </a:r>
            <a:r>
              <a:rPr lang="en-US" sz="1800" b="0" i="0" u="none" strike="noStrike" dirty="0" err="1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的增加呈现出清晰且急剧的上升曲线，二者存在显著的正相关关系</a:t>
            </a:r>
            <a:r>
              <a:rPr lang="en-US" sz="1800" b="0" i="0" u="none" strike="noStrike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。</a:t>
            </a:r>
          </a:p>
        </p:txBody>
      </p:sp>
      <p:sp>
        <p:nvSpPr>
          <p:cNvPr id="21" name="AutoShape 21"/>
          <p:cNvSpPr/>
          <p:nvPr>
            <p:custDataLst>
              <p:tags r:id="rId1"/>
            </p:custDataLst>
          </p:nvPr>
        </p:nvSpPr>
        <p:spPr>
          <a:xfrm>
            <a:off x="4290060" y="927100"/>
            <a:ext cx="3545840" cy="5604510"/>
          </a:xfrm>
          <a:prstGeom prst="roundRect">
            <a:avLst>
              <a:gd name="adj" fmla="val 0"/>
            </a:avLst>
          </a:prstGeom>
          <a:solidFill>
            <a:srgbClr val="E7E6E6">
              <a:alpha val="5000"/>
            </a:srgbClr>
          </a:solidFill>
          <a:ln w="12700" cap="flat" cmpd="sng">
            <a:gradFill rotWithShape="1">
              <a:gsLst>
                <a:gs pos="0">
                  <a:srgbClr val="2C4A70">
                    <a:alpha val="100000"/>
                  </a:srgbClr>
                </a:gs>
                <a:gs pos="50000">
                  <a:srgbClr val="2C4A70">
                    <a:alpha val="100000"/>
                  </a:srgbClr>
                </a:gs>
                <a:gs pos="100000">
                  <a:srgbClr val="B3C7E1">
                    <a:alpha val="50000"/>
                  </a:srgbClr>
                </a:gs>
              </a:gsLst>
              <a:lin ang="5400000"/>
            </a:gradFill>
            <a:prstDash val="solid"/>
            <a:miter lim="10000000"/>
          </a:ln>
          <a:effectLst>
            <a:outerShdw blurRad="254000" algn="ctr" rotWithShape="0">
              <a:srgbClr val="2C4A7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>
            <p:custDataLst>
              <p:tags r:id="rId2"/>
            </p:custDataLst>
          </p:nvPr>
        </p:nvSpPr>
        <p:spPr>
          <a:xfrm>
            <a:off x="4290060" y="850265"/>
            <a:ext cx="3545840" cy="762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>
            <p:custDataLst>
              <p:tags r:id="rId3"/>
            </p:custDataLst>
          </p:nvPr>
        </p:nvSpPr>
        <p:spPr>
          <a:xfrm>
            <a:off x="5205730" y="1049020"/>
            <a:ext cx="1714500" cy="1763395"/>
          </a:xfrm>
          <a:prstGeom prst="donut">
            <a:avLst>
              <a:gd name="adj" fmla="val 9638"/>
            </a:avLst>
          </a:prstGeom>
          <a:solidFill>
            <a:srgbClr val="678F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>
            <p:custDataLst>
              <p:tags r:id="rId4"/>
            </p:custDataLst>
          </p:nvPr>
        </p:nvSpPr>
        <p:spPr>
          <a:xfrm>
            <a:off x="5205730" y="1442085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200" b="1" i="1" u="none" strike="noStrike">
                <a:solidFill>
                  <a:srgbClr val="2C4A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14.6%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600" b="1" i="0" u="none" strike="noStrike">
                <a:solidFill>
                  <a:srgbClr val="2C4A70"/>
                </a:solidFill>
                <a:latin typeface="Kaiti SC"/>
                <a:ea typeface="Kaiti SC"/>
                <a:cs typeface="Kaiti SC"/>
                <a:sym typeface="Kaiti SC"/>
              </a:rPr>
              <a:t>低强度逃逸率</a:t>
            </a:r>
          </a:p>
        </p:txBody>
      </p:sp>
      <p:sp>
        <p:nvSpPr>
          <p:cNvPr id="27" name="AutoShape 27"/>
          <p:cNvSpPr/>
          <p:nvPr>
            <p:custDataLst>
              <p:tags r:id="rId5"/>
            </p:custDataLst>
          </p:nvPr>
        </p:nvSpPr>
        <p:spPr>
          <a:xfrm>
            <a:off x="4889500" y="2934970"/>
            <a:ext cx="2413000" cy="508000"/>
          </a:xfrm>
          <a:prstGeom prst="roundRect">
            <a:avLst>
              <a:gd name="adj" fmla="val 15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000"/>
          </a:p>
        </p:txBody>
      </p:sp>
      <p:sp>
        <p:nvSpPr>
          <p:cNvPr id="28" name="AutoShape 28"/>
          <p:cNvSpPr/>
          <p:nvPr>
            <p:custDataLst>
              <p:tags r:id="rId6"/>
            </p:custDataLst>
          </p:nvPr>
        </p:nvSpPr>
        <p:spPr>
          <a:xfrm>
            <a:off x="4889500" y="293497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k = 0.0005 </a:t>
            </a: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阶段</a:t>
            </a:r>
            <a:endParaRPr 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9" name="AutoShape 29"/>
          <p:cNvSpPr/>
          <p:nvPr>
            <p:custDataLst>
              <p:tags r:id="rId7"/>
            </p:custDataLst>
          </p:nvPr>
        </p:nvSpPr>
        <p:spPr>
          <a:xfrm>
            <a:off x="4290060" y="3565525"/>
            <a:ext cx="3585210" cy="28340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在潮汐强度处于极低水平</a:t>
            </a:r>
            <a:r>
              <a:rPr lang="en-US" sz="2400" b="0" i="0" u="none" strike="noStrike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（</a:t>
            </a:r>
            <a:r>
              <a:rPr lang="en-US" sz="2400" b="0" i="0" u="none" strike="noStrike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k=0.0005</a:t>
            </a:r>
            <a:r>
              <a:rPr lang="en-US" sz="2400" b="0" i="0" u="none" strike="noStrike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）</a:t>
            </a:r>
            <a:r>
              <a:rPr lang="en-US" sz="24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时，星团引力场相对稳定，仅有少量边缘恒星因动力学弛豫发生逃逸，整体结构保持完整。</a:t>
            </a:r>
          </a:p>
        </p:txBody>
      </p:sp>
      <p:sp>
        <p:nvSpPr>
          <p:cNvPr id="30" name="AutoShape 30"/>
          <p:cNvSpPr/>
          <p:nvPr>
            <p:custDataLst>
              <p:tags r:id="rId8"/>
            </p:custDataLst>
          </p:nvPr>
        </p:nvSpPr>
        <p:spPr>
          <a:xfrm>
            <a:off x="8048625" y="927735"/>
            <a:ext cx="3813175" cy="5603875"/>
          </a:xfrm>
          <a:prstGeom prst="roundRect">
            <a:avLst>
              <a:gd name="adj" fmla="val 0"/>
            </a:avLst>
          </a:prstGeom>
          <a:solidFill>
            <a:srgbClr val="E7E6E6">
              <a:alpha val="5000"/>
            </a:srgbClr>
          </a:solidFill>
          <a:ln w="12700" cap="flat" cmpd="sng">
            <a:gradFill rotWithShape="1">
              <a:gsLst>
                <a:gs pos="0">
                  <a:srgbClr val="2C4A70">
                    <a:alpha val="100000"/>
                  </a:srgbClr>
                </a:gs>
                <a:gs pos="50000">
                  <a:srgbClr val="2C4A70">
                    <a:alpha val="100000"/>
                  </a:srgbClr>
                </a:gs>
                <a:gs pos="100000">
                  <a:srgbClr val="B3C7E1">
                    <a:alpha val="50000"/>
                  </a:srgbClr>
                </a:gs>
              </a:gsLst>
              <a:lin ang="5400000"/>
            </a:gradFill>
            <a:prstDash val="solid"/>
            <a:miter lim="10000000"/>
          </a:ln>
          <a:effectLst>
            <a:outerShdw blurRad="254000" algn="ctr" rotWithShape="0">
              <a:srgbClr val="2C4A7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>
            <p:custDataLst>
              <p:tags r:id="rId9"/>
            </p:custDataLst>
          </p:nvPr>
        </p:nvSpPr>
        <p:spPr>
          <a:xfrm>
            <a:off x="8048625" y="850265"/>
            <a:ext cx="3811270" cy="762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>
            <p:custDataLst>
              <p:tags r:id="rId10"/>
            </p:custDataLst>
          </p:nvPr>
        </p:nvSpPr>
        <p:spPr>
          <a:xfrm>
            <a:off x="9139555" y="1442085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200" b="1" i="1" u="none" strike="noStrike">
                <a:solidFill>
                  <a:srgbClr val="2C4A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75.4%</a:t>
            </a:r>
            <a:endParaRPr lang="en-US" sz="1100"/>
          </a:p>
          <a:p>
            <a:pPr marL="0" indent="0" algn="ctr">
              <a:lnSpc>
                <a:spcPct val="92000"/>
              </a:lnSpc>
            </a:pPr>
            <a:r>
              <a:rPr lang="en-US" sz="1600" b="1" i="0" u="none" strike="noStrike">
                <a:solidFill>
                  <a:srgbClr val="2C4A70"/>
                </a:solidFill>
                <a:latin typeface="Kaiti SC"/>
                <a:ea typeface="Kaiti SC"/>
                <a:cs typeface="Kaiti SC"/>
                <a:sym typeface="Kaiti SC"/>
              </a:rPr>
              <a:t>高强度逃逸率</a:t>
            </a:r>
          </a:p>
        </p:txBody>
      </p:sp>
      <p:sp>
        <p:nvSpPr>
          <p:cNvPr id="36" name="AutoShape 36"/>
          <p:cNvSpPr/>
          <p:nvPr>
            <p:custDataLst>
              <p:tags r:id="rId11"/>
            </p:custDataLst>
          </p:nvPr>
        </p:nvSpPr>
        <p:spPr>
          <a:xfrm>
            <a:off x="8822055" y="2895600"/>
            <a:ext cx="2413000" cy="508000"/>
          </a:xfrm>
          <a:prstGeom prst="roundRect">
            <a:avLst>
              <a:gd name="adj" fmla="val 15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>
            <p:custDataLst>
              <p:tags r:id="rId12"/>
            </p:custDataLst>
          </p:nvPr>
        </p:nvSpPr>
        <p:spPr>
          <a:xfrm>
            <a:off x="8782050" y="28956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k = 0.0040 </a:t>
            </a:r>
            <a:r>
              <a:rPr 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剧变</a:t>
            </a:r>
          </a:p>
        </p:txBody>
      </p:sp>
      <p:sp>
        <p:nvSpPr>
          <p:cNvPr id="38" name="AutoShape 38"/>
          <p:cNvSpPr/>
          <p:nvPr>
            <p:custDataLst>
              <p:tags r:id="rId13"/>
            </p:custDataLst>
          </p:nvPr>
        </p:nvSpPr>
        <p:spPr>
          <a:xfrm>
            <a:off x="8177530" y="3565525"/>
            <a:ext cx="3585210" cy="2720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强度提升至</a:t>
            </a:r>
            <a:r>
              <a:rPr lang="en-US" sz="2400" b="0" i="0" u="none" strike="noStrike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</a:t>
            </a:r>
            <a:r>
              <a:rPr lang="en-US" sz="2400" b="0" i="0" u="none" strike="noStrike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0.0040 </a:t>
            </a:r>
            <a:r>
              <a:rPr lang="en-US" sz="24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时，逃逸比例飙升超</a:t>
            </a:r>
            <a:r>
              <a:rPr lang="en-US" sz="2400" b="0" i="0" u="none" strike="noStrike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</a:t>
            </a:r>
            <a:r>
              <a:rPr lang="en-US" sz="2400" b="0" i="0" u="none" strike="noStrike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Times New Roman" panose="02020603050405020304"/>
              </a:rPr>
              <a:t>5 </a:t>
            </a:r>
            <a:r>
              <a:rPr lang="en-US" sz="24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倍。物理洞见表明，潮汐强度是决定星团质量损失率与演化命运的核心驱动因素。</a:t>
            </a:r>
          </a:p>
        </p:txBody>
      </p:sp>
      <p:sp>
        <p:nvSpPr>
          <p:cNvPr id="41" name="AutoShape 23"/>
          <p:cNvSpPr/>
          <p:nvPr>
            <p:custDataLst>
              <p:tags r:id="rId14"/>
            </p:custDataLst>
          </p:nvPr>
        </p:nvSpPr>
        <p:spPr>
          <a:xfrm>
            <a:off x="9203055" y="1049020"/>
            <a:ext cx="1714500" cy="1763395"/>
          </a:xfrm>
          <a:prstGeom prst="donut">
            <a:avLst>
              <a:gd name="adj" fmla="val 9638"/>
            </a:avLst>
          </a:prstGeom>
          <a:solidFill>
            <a:srgbClr val="678F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B8B918-010F-D9A5-2E0A-EB13850C4CA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566" y="1001756"/>
            <a:ext cx="4209869" cy="353177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16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264795" y="723900"/>
            <a:ext cx="8318500" cy="508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12700" cap="flat" cmpd="sng">
            <a:solidFill>
              <a:srgbClr val="0C1A2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64795" y="127000"/>
            <a:ext cx="584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尾部不对称量的潮汐效应分析</a:t>
            </a:r>
          </a:p>
        </p:txBody>
      </p:sp>
      <p:sp>
        <p:nvSpPr>
          <p:cNvPr id="24" name="AutoShape 24"/>
          <p:cNvSpPr/>
          <p:nvPr/>
        </p:nvSpPr>
        <p:spPr>
          <a:xfrm>
            <a:off x="5300980" y="1486535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400" b="1" i="1" u="none" strike="noStrike">
                <a:solidFill>
                  <a:srgbClr val="2C4A70"/>
                </a:solidFill>
                <a:latin typeface="Kaiti SC"/>
                <a:ea typeface="Kaiti SC"/>
                <a:cs typeface="Kaiti SC"/>
                <a:sym typeface="Kaiti SC"/>
              </a:rPr>
              <a:t>↑ 激增</a:t>
            </a:r>
            <a:endParaRPr lang="en-US"/>
          </a:p>
          <a:p>
            <a:pPr marL="0" indent="0" algn="ctr">
              <a:lnSpc>
                <a:spcPct val="92000"/>
              </a:lnSpc>
            </a:pPr>
            <a:r>
              <a:rPr lang="en-US" sz="1800" b="1" i="0" u="none" strike="noStrike">
                <a:solidFill>
                  <a:srgbClr val="2C4A70"/>
                </a:solidFill>
                <a:latin typeface="Kaiti SC"/>
                <a:ea typeface="Kaiti SC"/>
                <a:cs typeface="Kaiti SC"/>
                <a:sym typeface="Kaiti SC"/>
              </a:rPr>
              <a:t>标准差趋势</a:t>
            </a:r>
          </a:p>
        </p:txBody>
      </p:sp>
      <p:sp>
        <p:nvSpPr>
          <p:cNvPr id="33" name="AutoShape 33"/>
          <p:cNvSpPr/>
          <p:nvPr/>
        </p:nvSpPr>
        <p:spPr>
          <a:xfrm>
            <a:off x="9266555" y="14224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2800" b="1" i="1" u="none" strike="noStrike">
                <a:solidFill>
                  <a:srgbClr val="2C4A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Key</a:t>
            </a:r>
            <a:endParaRPr lang="en-US"/>
          </a:p>
          <a:p>
            <a:pPr marL="0" indent="0" algn="ctr">
              <a:lnSpc>
                <a:spcPct val="92000"/>
              </a:lnSpc>
            </a:pPr>
            <a:r>
              <a:rPr lang="en-US" sz="1800" b="1" i="0" u="none" strike="noStrike">
                <a:solidFill>
                  <a:srgbClr val="2C4A70"/>
                </a:solidFill>
                <a:latin typeface="Kaiti SC"/>
                <a:ea typeface="Kaiti SC"/>
                <a:cs typeface="Kaiti SC"/>
                <a:sym typeface="Kaiti SC"/>
              </a:rPr>
              <a:t>核心结论</a:t>
            </a:r>
          </a:p>
        </p:txBody>
      </p:sp>
      <p:sp>
        <p:nvSpPr>
          <p:cNvPr id="57" name="AutoShape 18"/>
          <p:cNvSpPr/>
          <p:nvPr/>
        </p:nvSpPr>
        <p:spPr>
          <a:xfrm>
            <a:off x="510540" y="4568165"/>
            <a:ext cx="3315335" cy="508000"/>
          </a:xfrm>
          <a:prstGeom prst="roundRect">
            <a:avLst>
              <a:gd name="adj" fmla="val 15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8" name="AutoShape 19"/>
          <p:cNvSpPr/>
          <p:nvPr/>
        </p:nvSpPr>
        <p:spPr>
          <a:xfrm>
            <a:off x="559435" y="4608183"/>
            <a:ext cx="331597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zh-CN" altLang="en-US" sz="2400" b="1" i="0" u="none" strike="noStrike" dirty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平均值</a:t>
            </a:r>
            <a:r>
              <a:rPr lang="en-US" altLang="zh-CN" sz="2400" b="1" i="0" u="none" strike="noStrike" dirty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:</a:t>
            </a:r>
            <a:r>
              <a:rPr lang="zh-CN" altLang="en-US" sz="2400" b="1" i="0" u="none" strike="noStrike" dirty="0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Kaiti SC"/>
                <a:sym typeface="Kaiti SC"/>
              </a:rPr>
              <a:t>零值附近波动</a:t>
            </a:r>
          </a:p>
        </p:txBody>
      </p:sp>
      <p:sp>
        <p:nvSpPr>
          <p:cNvPr id="59" name="AutoShape 20"/>
          <p:cNvSpPr/>
          <p:nvPr/>
        </p:nvSpPr>
        <p:spPr>
          <a:xfrm>
            <a:off x="441643" y="5156200"/>
            <a:ext cx="358521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800" b="0" i="0" u="none" strike="noStrike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这一特征表明，从统计平均的角度来看，潮汐强度并未系统性地偏向某一条物质尾流，系统整体呈现出良好的统计对称性。</a:t>
            </a:r>
          </a:p>
        </p:txBody>
      </p:sp>
      <p:sp>
        <p:nvSpPr>
          <p:cNvPr id="60" name="AutoShape 21"/>
          <p:cNvSpPr/>
          <p:nvPr>
            <p:custDataLst>
              <p:tags r:id="rId1"/>
            </p:custDataLst>
          </p:nvPr>
        </p:nvSpPr>
        <p:spPr>
          <a:xfrm>
            <a:off x="4228465" y="850900"/>
            <a:ext cx="3545840" cy="5604510"/>
          </a:xfrm>
          <a:prstGeom prst="roundRect">
            <a:avLst>
              <a:gd name="adj" fmla="val 0"/>
            </a:avLst>
          </a:prstGeom>
          <a:solidFill>
            <a:srgbClr val="E7E6E6">
              <a:alpha val="5000"/>
            </a:srgbClr>
          </a:solidFill>
          <a:ln w="12700" cap="flat" cmpd="sng">
            <a:gradFill rotWithShape="1">
              <a:gsLst>
                <a:gs pos="0">
                  <a:srgbClr val="2C4A70">
                    <a:alpha val="100000"/>
                  </a:srgbClr>
                </a:gs>
                <a:gs pos="50000">
                  <a:srgbClr val="2C4A70">
                    <a:alpha val="100000"/>
                  </a:srgbClr>
                </a:gs>
                <a:gs pos="100000">
                  <a:srgbClr val="B3C7E1">
                    <a:alpha val="50000"/>
                  </a:srgbClr>
                </a:gs>
              </a:gsLst>
              <a:lin ang="5400000"/>
            </a:gradFill>
            <a:prstDash val="solid"/>
            <a:miter lim="10000000"/>
          </a:ln>
          <a:effectLst>
            <a:outerShdw blurRad="254000" algn="ctr" rotWithShape="0">
              <a:srgbClr val="2C4A7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AutoShape 23"/>
          <p:cNvSpPr/>
          <p:nvPr>
            <p:custDataLst>
              <p:tags r:id="rId2"/>
            </p:custDataLst>
          </p:nvPr>
        </p:nvSpPr>
        <p:spPr>
          <a:xfrm>
            <a:off x="5205730" y="1049020"/>
            <a:ext cx="1714500" cy="1763395"/>
          </a:xfrm>
          <a:prstGeom prst="donut">
            <a:avLst>
              <a:gd name="adj" fmla="val 9638"/>
            </a:avLst>
          </a:prstGeom>
          <a:solidFill>
            <a:srgbClr val="678F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AutoShape 27"/>
          <p:cNvSpPr/>
          <p:nvPr>
            <p:custDataLst>
              <p:tags r:id="rId3"/>
            </p:custDataLst>
          </p:nvPr>
        </p:nvSpPr>
        <p:spPr>
          <a:xfrm>
            <a:off x="4425950" y="2934970"/>
            <a:ext cx="3155315" cy="508000"/>
          </a:xfrm>
          <a:prstGeom prst="roundRect">
            <a:avLst>
              <a:gd name="adj" fmla="val 15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000"/>
          </a:p>
        </p:txBody>
      </p:sp>
      <p:sp>
        <p:nvSpPr>
          <p:cNvPr id="64" name="AutoShape 28"/>
          <p:cNvSpPr/>
          <p:nvPr>
            <p:custDataLst>
              <p:tags r:id="rId4"/>
            </p:custDataLst>
          </p:nvPr>
        </p:nvSpPr>
        <p:spPr>
          <a:xfrm>
            <a:off x="4425315" y="2934970"/>
            <a:ext cx="315531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zh-CN" altLang="en-US" sz="24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标准差</a:t>
            </a:r>
            <a:r>
              <a:rPr lang="en-US" altLang="zh-CN" sz="24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:</a:t>
            </a:r>
            <a:r>
              <a:rPr lang="zh-CN" altLang="en-US" sz="24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随强度急剧</a:t>
            </a:r>
          </a:p>
        </p:txBody>
      </p:sp>
      <p:sp>
        <p:nvSpPr>
          <p:cNvPr id="65" name="AutoShape 29"/>
          <p:cNvSpPr/>
          <p:nvPr>
            <p:custDataLst>
              <p:tags r:id="rId5"/>
            </p:custDataLst>
          </p:nvPr>
        </p:nvSpPr>
        <p:spPr>
          <a:xfrm>
            <a:off x="4290060" y="3565525"/>
            <a:ext cx="3585210" cy="28340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标准差随潮汐强度</a:t>
            </a:r>
            <a:r>
              <a:rPr lang="en-US" altLang="zh-CN" sz="2400" b="0" i="0" u="none" strike="noStrike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Kaiti SC"/>
              </a:rPr>
              <a:t> k </a:t>
            </a:r>
            <a:r>
              <a:rPr lang="zh-CN" altLang="en-US" sz="24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的增大而急剧扩张。这说明单次模拟结果极易受到随机初始条件的干扰，表现出显著的偶然性，无法代表系统的真实演化规律。</a:t>
            </a:r>
          </a:p>
        </p:txBody>
      </p:sp>
      <p:sp>
        <p:nvSpPr>
          <p:cNvPr id="66" name="AutoShape 30"/>
          <p:cNvSpPr/>
          <p:nvPr>
            <p:custDataLst>
              <p:tags r:id="rId6"/>
            </p:custDataLst>
          </p:nvPr>
        </p:nvSpPr>
        <p:spPr>
          <a:xfrm>
            <a:off x="8048625" y="929005"/>
            <a:ext cx="3813175" cy="5603875"/>
          </a:xfrm>
          <a:prstGeom prst="roundRect">
            <a:avLst>
              <a:gd name="adj" fmla="val 0"/>
            </a:avLst>
          </a:prstGeom>
          <a:solidFill>
            <a:srgbClr val="E7E6E6">
              <a:alpha val="5000"/>
            </a:srgbClr>
          </a:solidFill>
          <a:ln w="12700" cap="flat" cmpd="sng">
            <a:gradFill rotWithShape="1">
              <a:gsLst>
                <a:gs pos="0">
                  <a:srgbClr val="2C4A70">
                    <a:alpha val="100000"/>
                  </a:srgbClr>
                </a:gs>
                <a:gs pos="50000">
                  <a:srgbClr val="2C4A70">
                    <a:alpha val="100000"/>
                  </a:srgbClr>
                </a:gs>
                <a:gs pos="100000">
                  <a:srgbClr val="B3C7E1">
                    <a:alpha val="50000"/>
                  </a:srgbClr>
                </a:gs>
              </a:gsLst>
              <a:lin ang="5400000"/>
            </a:gradFill>
            <a:prstDash val="solid"/>
            <a:miter lim="10000000"/>
          </a:ln>
          <a:effectLst>
            <a:outerShdw blurRad="254000" algn="ctr" rotWithShape="0">
              <a:srgbClr val="2C4A7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" name="AutoShape 36"/>
          <p:cNvSpPr/>
          <p:nvPr>
            <p:custDataLst>
              <p:tags r:id="rId7"/>
            </p:custDataLst>
          </p:nvPr>
        </p:nvSpPr>
        <p:spPr>
          <a:xfrm>
            <a:off x="8270240" y="2895600"/>
            <a:ext cx="3429000" cy="508000"/>
          </a:xfrm>
          <a:prstGeom prst="roundRect">
            <a:avLst>
              <a:gd name="adj" fmla="val 15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9" name="AutoShape 37"/>
          <p:cNvSpPr/>
          <p:nvPr>
            <p:custDataLst>
              <p:tags r:id="rId8"/>
            </p:custDataLst>
          </p:nvPr>
        </p:nvSpPr>
        <p:spPr>
          <a:xfrm>
            <a:off x="8270240" y="2901950"/>
            <a:ext cx="342836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结论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: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必须进行统计分析</a:t>
            </a:r>
          </a:p>
        </p:txBody>
      </p:sp>
      <p:sp>
        <p:nvSpPr>
          <p:cNvPr id="70" name="AutoShape 38"/>
          <p:cNvSpPr/>
          <p:nvPr>
            <p:custDataLst>
              <p:tags r:id="rId9"/>
            </p:custDataLst>
          </p:nvPr>
        </p:nvSpPr>
        <p:spPr>
          <a:xfrm>
            <a:off x="8177530" y="3565525"/>
            <a:ext cx="3585210" cy="2720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Kaiti SC"/>
              </a:rPr>
              <a:t>鉴于单次模拟的随机性，仅依靠少数样本无法得出可靠结论。研究必须基于多组随机种子的统计平均，才能有效消除涨落干扰，还原潮汐效应的物理本质。</a:t>
            </a:r>
          </a:p>
        </p:txBody>
      </p:sp>
      <p:sp>
        <p:nvSpPr>
          <p:cNvPr id="71" name="AutoShape 23"/>
          <p:cNvSpPr/>
          <p:nvPr>
            <p:custDataLst>
              <p:tags r:id="rId10"/>
            </p:custDataLst>
          </p:nvPr>
        </p:nvSpPr>
        <p:spPr>
          <a:xfrm>
            <a:off x="9203055" y="1049020"/>
            <a:ext cx="1714500" cy="1763395"/>
          </a:xfrm>
          <a:prstGeom prst="donut">
            <a:avLst>
              <a:gd name="adj" fmla="val 9638"/>
            </a:avLst>
          </a:prstGeom>
          <a:solidFill>
            <a:srgbClr val="678F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" name="AutoShape 15"/>
          <p:cNvSpPr/>
          <p:nvPr/>
        </p:nvSpPr>
        <p:spPr>
          <a:xfrm>
            <a:off x="313055" y="850900"/>
            <a:ext cx="3764280" cy="762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" name="AutoShape 22"/>
          <p:cNvSpPr/>
          <p:nvPr>
            <p:custDataLst>
              <p:tags r:id="rId11"/>
            </p:custDataLst>
          </p:nvPr>
        </p:nvSpPr>
        <p:spPr>
          <a:xfrm>
            <a:off x="4290060" y="850265"/>
            <a:ext cx="3545840" cy="762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31"/>
          <p:cNvSpPr/>
          <p:nvPr>
            <p:custDataLst>
              <p:tags r:id="rId12"/>
            </p:custDataLst>
          </p:nvPr>
        </p:nvSpPr>
        <p:spPr>
          <a:xfrm>
            <a:off x="8048625" y="850265"/>
            <a:ext cx="3811270" cy="762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-13907" r="-16556" b="-14893"/>
          <a:stretch>
            <a:fillRect/>
          </a:stretch>
        </p:blipFill>
        <p:spPr>
          <a:xfrm>
            <a:off x="9448800" y="165100"/>
            <a:ext cx="2501900" cy="68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233680" y="615950"/>
            <a:ext cx="8318500" cy="508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12700" cap="flat" cmpd="sng">
            <a:solidFill>
              <a:srgbClr val="0C1A2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33680" y="95250"/>
            <a:ext cx="4508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Times New Roman" panose="02020603050405020304" charset="0"/>
                <a:ea typeface="Kaiti SC"/>
                <a:cs typeface="Kaiti SC"/>
                <a:sym typeface="Kaiti SC"/>
              </a:rPr>
              <a:t>参考文献</a:t>
            </a:r>
            <a:endParaRPr lang="en-US" sz="1100">
              <a:latin typeface="Times New Roman" panose="0202060305040502030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233680" y="850900"/>
            <a:ext cx="11717020" cy="568642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algn="ctr" rotWithShape="0">
              <a:srgbClr val="D9D9D9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341630" y="985520"/>
            <a:ext cx="11473180" cy="53740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01600" rIns="127000" bIns="101600" rtlCol="0" anchor="t" anchorCtr="0"/>
          <a:lstStyle/>
          <a:p>
            <a:pPr marL="0" indent="0" algn="l">
              <a:lnSpc>
                <a:spcPct val="108000"/>
              </a:lnSpc>
            </a:pPr>
            <a:r>
              <a:rPr lang="en-US" altLang="zh-CN" sz="20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[1] Hairer E, Lubich C, Wanner G. Geometric numerical integration: structure-preserving algorithms for ordinary differential equations[M]. 2nd ed. Berlin: Springer, 2006.</a:t>
            </a:r>
          </a:p>
          <a:p>
            <a:pPr marL="0" indent="0" algn="l">
              <a:lnSpc>
                <a:spcPct val="108000"/>
              </a:lnSpc>
            </a:pPr>
            <a:r>
              <a:rPr lang="en-US" altLang="zh-CN" sz="20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[2] Binney J, Tremaine S. Galactic dynamics[M]. 2nd ed. Princeton: Princeton University Press, 2008.</a:t>
            </a:r>
          </a:p>
          <a:p>
            <a:pPr marL="0" indent="0" algn="l">
              <a:lnSpc>
                <a:spcPct val="108000"/>
              </a:lnSpc>
            </a:pPr>
            <a:r>
              <a:rPr lang="en-US" altLang="zh-CN" sz="20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[3] Tang S Y, Pang X, Yuan Z, et al. Discovery of tidal tails in disrupting open clusters: Coma Berenices and a neighbor stellar group[J]. The Astrophysical Journal, 2019, 877: 12.</a:t>
            </a:r>
          </a:p>
          <a:p>
            <a:pPr marL="0" indent="0" algn="l">
              <a:lnSpc>
                <a:spcPct val="108000"/>
              </a:lnSpc>
            </a:pPr>
            <a:r>
              <a:rPr lang="en-US" altLang="zh-CN" sz="20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[4] Gaia Collaboration, Vallenari A, Brown A G A, et al. Gaia Data Release 3: Summary of the content and survey properties[J]. Astronomy &amp; Astrophysics, 2023, 674: A1.</a:t>
            </a:r>
          </a:p>
          <a:p>
            <a:pPr marL="0" indent="0" algn="l">
              <a:lnSpc>
                <a:spcPct val="108000"/>
              </a:lnSpc>
            </a:pPr>
            <a:r>
              <a:rPr lang="en-US" altLang="zh-CN" sz="20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[5] Gaia Collaboration, Prusti T, de Bruijne J H J, et al. The Gaia mission[J]. Astronomy &amp; Astrophysics, 2016, 595: A1.</a:t>
            </a:r>
          </a:p>
          <a:p>
            <a:pPr marL="0" indent="0" algn="l">
              <a:lnSpc>
                <a:spcPct val="108000"/>
              </a:lnSpc>
            </a:pPr>
            <a:r>
              <a:rPr lang="en-US" altLang="zh-CN" sz="20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[6] Cantat-Gaudin T, Anders F, Castro-Ginard A, et al. Painting a portrait of the Galactic disc with its stellar clusters[J]. Astronomy &amp; Astrophysics, 2020, 640: A1.</a:t>
            </a:r>
          </a:p>
          <a:p>
            <a:pPr marL="0" indent="0" algn="l">
              <a:lnSpc>
                <a:spcPct val="108000"/>
              </a:lnSpc>
            </a:pPr>
            <a:r>
              <a:rPr lang="en-US" altLang="zh-CN" sz="20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[7] K</a:t>
            </a:r>
            <a:r>
              <a:rPr lang="en-US" altLang="en-US" sz="20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ü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pper A H W, MacLeod A, Heggie D C. On the structure of tidal tails[J]. Monthly Notices of the Royal Astronomical Society, 2008, 387: 1248–1252.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413000"/>
            <a:ext cx="12192000" cy="2794000"/>
          </a:xfrm>
          <a:prstGeom prst="roundRect">
            <a:avLst>
              <a:gd name="adj" fmla="val 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81000" y="2794000"/>
            <a:ext cx="11430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</a:pP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恳请老师批评指正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3200" dirty="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We sincerely appreciate your comments</a:t>
            </a:r>
            <a:endParaRPr lang="en-US" altLang="zh-CN" sz="3200" b="0" i="0" u="none" strike="noStrike" dirty="0">
              <a:solidFill>
                <a:schemeClr val="bg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762000" cy="50800"/>
          </a:xfrm>
          <a:prstGeom prst="roundRect">
            <a:avLst>
              <a:gd name="adj" fmla="val 20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" y="660400"/>
            <a:ext cx="1143000" cy="50800"/>
          </a:xfrm>
          <a:prstGeom prst="roundRect">
            <a:avLst>
              <a:gd name="adj" fmla="val 20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812800"/>
            <a:ext cx="508000" cy="50800"/>
          </a:xfrm>
          <a:prstGeom prst="roundRect">
            <a:avLst>
              <a:gd name="adj" fmla="val 20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 rot="10800000" flipV="1">
            <a:off x="10922000" y="5969000"/>
            <a:ext cx="762000" cy="50800"/>
          </a:xfrm>
          <a:prstGeom prst="roundRect">
            <a:avLst>
              <a:gd name="adj" fmla="val 20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 flipV="1">
            <a:off x="10541000" y="6121400"/>
            <a:ext cx="1143000" cy="50800"/>
          </a:xfrm>
          <a:prstGeom prst="roundRect">
            <a:avLst>
              <a:gd name="adj" fmla="val 20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 rot="10800000" flipV="1">
            <a:off x="11176000" y="6273800"/>
            <a:ext cx="508000" cy="50800"/>
          </a:xfrm>
          <a:prstGeom prst="roundRect">
            <a:avLst>
              <a:gd name="adj" fmla="val 20000"/>
            </a:avLst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10" name="Connector 10"/>
          <p:cNvCxnSpPr/>
          <p:nvPr/>
        </p:nvCxnSpPr>
        <p:spPr>
          <a:xfrm rot="-4774">
            <a:off x="1524004" y="5200650"/>
            <a:ext cx="914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6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62000" y="5588000"/>
            <a:ext cx="254000" cy="254000"/>
          </a:xfrm>
          <a:prstGeom prst="ellipse">
            <a:avLst/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43000" y="5461000"/>
            <a:ext cx="478091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2C4A70"/>
                </a:solidFill>
                <a:latin typeface="Kaiti SC"/>
                <a:ea typeface="Kaiti SC"/>
                <a:cs typeface="Kaiti SC"/>
                <a:sym typeface="Kaiti SC"/>
              </a:rPr>
              <a:t>答辩人：刘子寒  杨雯燕  周永畅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5588000"/>
            <a:ext cx="254000" cy="254000"/>
          </a:xfrm>
          <a:prstGeom prst="ellipse">
            <a:avLst/>
          </a:prstGeom>
          <a:solidFill>
            <a:srgbClr val="2C4A7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636000" y="5461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2C4A70"/>
                </a:solidFill>
                <a:latin typeface="Kaiti SC"/>
                <a:ea typeface="Kaiti SC"/>
                <a:cs typeface="Kaiti SC"/>
                <a:sym typeface="Kaiti SC"/>
              </a:rPr>
              <a:t>时间：</a:t>
            </a:r>
            <a:r>
              <a:rPr lang="en-US" sz="2400" b="1" i="0" u="none" strike="noStrike">
                <a:solidFill>
                  <a:srgbClr val="2C4A7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2026.07.03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,&quot;left&quot;:58.3,&quot;top&quot;:86.75,&quot;width&quot;:866.4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,&quot;left&quot;:58.3,&quot;top&quot;:86.75,&quot;width&quot;:866.4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,&quot;left&quot;:58.3,&quot;top&quot;:86.75,&quot;width&quot;:866.4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,&quot;left&quot;:58.3,&quot;top&quot;:86.75,&quot;width&quot;:866.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,&quot;left&quot;:58.3,&quot;top&quot;:86.75,&quot;width&quot;:866.4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,&quot;left&quot;:58.3,&quot;top&quot;:86.75,&quot;width&quot;:866.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5,&quot;left&quot;:22.95,&quot;top&quot;:121.4,&quot;width&quot;:905.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5,&quot;left&quot;:22.95,&quot;top&quot;:121.4,&quot;width&quot;:905.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5,&quot;left&quot;:22.95,&quot;top&quot;:121.4,&quot;width&quot;:905.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5,&quot;left&quot;:22.95,&quot;top&quot;:121.4,&quot;width&quot;:905.0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6.45,&quot;left&quot;:22.95,&quot;top&quot;:121.4,&quot;width&quot;:905.0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2.5,&quot;left&quot;:23.8,&quot;top&quot;:83.3,&quot;width&quot;:916.1055118110237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9.55058424589316,&quot;left&quot;:19.45,&quot;top&quot;:60.48878583284768,&quot;width&quot;:919.8419685039373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,&quot;left&quot;:15,&quot;top&quot;:71.85,&quot;width&quot;:875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,&quot;left&quot;:15,&quot;top&quot;:71.85,&quot;width&quot;:875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,&quot;left&quot;:15,&quot;top&quot;:71.85,&quot;width&quot;:875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,&quot;left&quot;:15,&quot;top&quot;:71.85,&quot;width&quot;:87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,&quot;left&quot;:15,&quot;top&quot;:71.85,&quot;width&quot;:87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,&quot;left&quot;:15,&quot;top&quot;:71.85,&quot;width&quot;:87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,&quot;left&quot;:15,&quot;top&quot;:71.85,&quot;width&quot;:87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,&quot;left&quot;:15,&quot;top&quot;:71.85,&quot;width&quot;:875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8.35,&quot;left&quot;:337.8,&quot;top&quot;:65.95,&quot;width&quot;:596.2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969</Words>
  <Application>Microsoft Office PowerPoint</Application>
  <PresentationFormat>宽屏</PresentationFormat>
  <Paragraphs>187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Kaiti SC</vt:lpstr>
      <vt:lpstr>等线</vt:lpstr>
      <vt:lpstr>楷体</vt:lpstr>
      <vt:lpstr>微软雅黑</vt:lpstr>
      <vt:lpstr>Arial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誉腾 许</cp:lastModifiedBy>
  <cp:revision>6</cp:revision>
  <dcterms:created xsi:type="dcterms:W3CDTF">2026-06-27T15:15:17Z</dcterms:created>
  <dcterms:modified xsi:type="dcterms:W3CDTF">2026-06-28T15:56:48Z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{"Label":"1","ContentProducer":"001191110102MACQD9K64010000","ProduceID":"7656012450283178953","ReservedCode1":"","ContentPropagator":"","PropagateID":"","ReservedCode2":""}</vt:lpwstr>
  </property>
  <property fmtid="{D5CDD505-2E9C-101B-9397-08002B2CF9AE}" pid="3" name="ICV">
    <vt:lpwstr>65A286B6E73C4B96AEB92567AFB6AF7D_13</vt:lpwstr>
  </property>
  <property fmtid="{D5CDD505-2E9C-101B-9397-08002B2CF9AE}" pid="4" name="KSOProductBuildVer">
    <vt:lpwstr>2052-12.1.0.21915</vt:lpwstr>
  </property>
</Properties>
</file>